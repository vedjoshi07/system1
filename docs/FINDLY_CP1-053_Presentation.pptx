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70" r:id="rId10"/>
    <p:sldId id="271" r:id="rId11"/>
    <p:sldId id="264" r:id="rId12"/>
    <p:sldId id="265" r:id="rId13"/>
    <p:sldId id="266" r:id="rId14"/>
    <p:sldId id="267" r:id="rId15"/>
    <p:sldId id="268" r:id="rId16"/>
    <p:sldId id="272" r:id="rId17"/>
    <p:sldId id="273" r:id="rId18"/>
    <p:sldId id="274" r:id="rId19"/>
    <p:sldId id="275" r:id="rId20"/>
    <p:sldId id="276" r:id="rId21"/>
    <p:sldId id="277" r:id="rId22"/>
    <p:sldId id="269"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2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449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0C269-85E2-3E06-5F5C-A67DC6475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BD5E7-5F7F-2DF6-7F1D-594BE8BE29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44D19-FC4E-DF9D-244B-F34879990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26E812-D78D-9E19-2D74-4C78B10BEF6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38601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34FE3-E3A3-CB8E-A273-CB544E6CF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8201B-FE39-33F0-6AC7-89B71A234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3E97E-F205-3F45-D6C6-4D572876EB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CF2EC1-C116-8B5C-BDFC-A3DF7D221A5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149515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4E3CB-AB64-2EF6-A119-A72D226E75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76734C-0BC0-8205-C19D-591E96851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045A2-78FE-FE66-D69E-FB34DDBE4C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11B19D-0F5A-D1AC-8DF6-23729BF7A3F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8261280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FADFC-BEE0-F4E5-084B-4B9EAFE4A9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4A798-8022-420D-EF90-A78B18A694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7CA142-B754-CD3D-5D6A-3D5C799D4F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D66719-8F11-76C3-D1EF-E986F910796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876607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1F5C5-8B52-E012-E388-C5859CB1E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CD358-9AAB-AE26-7D1F-6C2B3527EB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F273D-7DBB-CF6A-DD06-3F916A98BA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32BDF6-C2BA-A778-ACCB-4E0DE09A99B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6045095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CE487-5A67-26E9-A69C-F3655BDC3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592FC-4D5A-643E-887A-5B2E0D00D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35DB9-2FF6-C7DB-C715-EEBEAF51AF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5F3C69-1AD7-4B91-9885-AB47A5D16E8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29715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F"/>
        </a:solidFill>
        <a:effectLst/>
      </p:bgPr>
    </p:bg>
    <p:spTree>
      <p:nvGrpSpPr>
        <p:cNvPr id="1" name=""/>
        <p:cNvGrpSpPr/>
        <p:nvPr/>
      </p:nvGrpSpPr>
      <p:grpSpPr>
        <a:xfrm>
          <a:off x="0" y="0"/>
          <a:ext cx="0" cy="0"/>
          <a:chOff x="0" y="0"/>
          <a:chExt cx="0" cy="0"/>
        </a:xfrm>
      </p:grpSpPr>
      <p:sp>
        <p:nvSpPr>
          <p:cNvPr id="2" name="Shape 0"/>
          <p:cNvSpPr/>
          <p:nvPr/>
        </p:nvSpPr>
        <p:spPr>
          <a:xfrm>
            <a:off x="9814255" y="-1280160"/>
            <a:ext cx="3657600" cy="3657600"/>
          </a:xfrm>
          <a:prstGeom prst="ellipse">
            <a:avLst/>
          </a:prstGeom>
          <a:solidFill>
            <a:srgbClr val="1E3A5F"/>
          </a:solidFill>
          <a:ln/>
        </p:spPr>
      </p:sp>
      <p:sp>
        <p:nvSpPr>
          <p:cNvPr id="3" name="Shape 1"/>
          <p:cNvSpPr/>
          <p:nvPr/>
        </p:nvSpPr>
        <p:spPr>
          <a:xfrm>
            <a:off x="-1463040" y="4846320"/>
            <a:ext cx="2926080" cy="2926080"/>
          </a:xfrm>
          <a:prstGeom prst="ellipse">
            <a:avLst/>
          </a:prstGeom>
          <a:solidFill>
            <a:srgbClr val="1E3A5F"/>
          </a:solidFill>
          <a:ln/>
        </p:spPr>
      </p:sp>
      <p:sp>
        <p:nvSpPr>
          <p:cNvPr id="4" name="Shape 2"/>
          <p:cNvSpPr/>
          <p:nvPr/>
        </p:nvSpPr>
        <p:spPr>
          <a:xfrm>
            <a:off x="10820095" y="5486400"/>
            <a:ext cx="1188720" cy="1188720"/>
          </a:xfrm>
          <a:prstGeom prst="ellipse">
            <a:avLst/>
          </a:prstGeom>
          <a:solidFill>
            <a:srgbClr val="E8A62E"/>
          </a:solidFill>
          <a:ln/>
        </p:spPr>
      </p:sp>
      <p:sp>
        <p:nvSpPr>
          <p:cNvPr id="6" name="Text 4"/>
          <p:cNvSpPr/>
          <p:nvPr/>
        </p:nvSpPr>
        <p:spPr>
          <a:xfrm>
            <a:off x="548640" y="1965960"/>
            <a:ext cx="11094415" cy="457200"/>
          </a:xfrm>
          <a:prstGeom prst="rect">
            <a:avLst/>
          </a:prstGeom>
          <a:noFill/>
          <a:ln/>
        </p:spPr>
        <p:txBody>
          <a:bodyPr wrap="square" lIns="0" tIns="0" rIns="0" bIns="0" rtlCol="0" anchor="ctr"/>
          <a:lstStyle/>
          <a:p>
            <a:pPr marL="0" indent="0" algn="ctr">
              <a:buNone/>
            </a:pPr>
            <a:r>
              <a:rPr lang="en-US" sz="1800" b="1" kern="0" spc="300" dirty="0">
                <a:solidFill>
                  <a:srgbClr val="E8A62E"/>
                </a:solidFill>
                <a:latin typeface="Times New Roman" pitchFamily="34" charset="0"/>
                <a:ea typeface="Times New Roman" pitchFamily="34" charset="-122"/>
                <a:cs typeface="Times New Roman" pitchFamily="34" charset="-120"/>
              </a:rPr>
              <a:t>CAPSTONE PROJECT - I</a:t>
            </a:r>
            <a:endParaRPr lang="en-US" sz="1800" dirty="0"/>
          </a:p>
        </p:txBody>
      </p:sp>
      <p:sp>
        <p:nvSpPr>
          <p:cNvPr id="7" name="Text 5"/>
          <p:cNvSpPr/>
          <p:nvPr/>
        </p:nvSpPr>
        <p:spPr>
          <a:xfrm>
            <a:off x="548640" y="2468880"/>
            <a:ext cx="11094415" cy="1005840"/>
          </a:xfrm>
          <a:prstGeom prst="rect">
            <a:avLst/>
          </a:prstGeom>
          <a:noFill/>
          <a:ln/>
        </p:spPr>
        <p:txBody>
          <a:bodyPr wrap="square" lIns="0" tIns="0" rIns="0" bIns="0" rtlCol="0" anchor="ctr"/>
          <a:lstStyle/>
          <a:p>
            <a:pPr marL="0" indent="0" algn="ctr">
              <a:buNone/>
            </a:pPr>
            <a:r>
              <a:rPr lang="en-US" sz="6000" b="1" dirty="0">
                <a:solidFill>
                  <a:srgbClr val="FFFFFF"/>
                </a:solidFill>
                <a:latin typeface="Times New Roman" pitchFamily="34" charset="0"/>
                <a:ea typeface="Times New Roman" pitchFamily="34" charset="-122"/>
                <a:cs typeface="Times New Roman" pitchFamily="34" charset="-120"/>
              </a:rPr>
              <a:t>FINDLY</a:t>
            </a:r>
            <a:endParaRPr lang="en-US" sz="6000" dirty="0"/>
          </a:p>
        </p:txBody>
      </p:sp>
      <p:sp>
        <p:nvSpPr>
          <p:cNvPr id="8" name="Text 6"/>
          <p:cNvSpPr/>
          <p:nvPr/>
        </p:nvSpPr>
        <p:spPr>
          <a:xfrm>
            <a:off x="548640" y="3429000"/>
            <a:ext cx="11094415" cy="502920"/>
          </a:xfrm>
          <a:prstGeom prst="rect">
            <a:avLst/>
          </a:prstGeom>
          <a:noFill/>
          <a:ln/>
        </p:spPr>
        <p:txBody>
          <a:bodyPr wrap="square" lIns="0" tIns="0" rIns="0" bIns="0" rtlCol="0" anchor="ctr"/>
          <a:lstStyle/>
          <a:p>
            <a:pPr marL="0" indent="0" algn="ctr">
              <a:buNone/>
            </a:pPr>
            <a:r>
              <a:rPr lang="en-US" sz="2000" i="1" dirty="0">
                <a:solidFill>
                  <a:srgbClr val="D9E6F5"/>
                </a:solidFill>
                <a:latin typeface="Times New Roman" pitchFamily="34" charset="0"/>
                <a:ea typeface="Times New Roman" pitchFamily="34" charset="-122"/>
                <a:cs typeface="Times New Roman" pitchFamily="34" charset="-120"/>
              </a:rPr>
              <a:t>Campus Lost &amp; Found Management System</a:t>
            </a:r>
            <a:endParaRPr lang="en-US" sz="2000" dirty="0"/>
          </a:p>
        </p:txBody>
      </p:sp>
      <p:sp>
        <p:nvSpPr>
          <p:cNvPr id="9" name="Shape 7"/>
          <p:cNvSpPr/>
          <p:nvPr/>
        </p:nvSpPr>
        <p:spPr>
          <a:xfrm>
            <a:off x="4998568" y="4160520"/>
            <a:ext cx="2194560" cy="0"/>
          </a:xfrm>
          <a:prstGeom prst="line">
            <a:avLst/>
          </a:prstGeom>
          <a:noFill/>
          <a:ln w="19050">
            <a:solidFill>
              <a:srgbClr val="E8A62E"/>
            </a:solidFill>
            <a:prstDash val="solid"/>
          </a:ln>
        </p:spPr>
      </p:sp>
      <p:sp>
        <p:nvSpPr>
          <p:cNvPr id="10" name="Text 8"/>
          <p:cNvSpPr/>
          <p:nvPr/>
        </p:nvSpPr>
        <p:spPr>
          <a:xfrm>
            <a:off x="548640" y="4389120"/>
            <a:ext cx="11094415" cy="320040"/>
          </a:xfrm>
          <a:prstGeom prst="rect">
            <a:avLst/>
          </a:prstGeom>
          <a:noFill/>
          <a:ln/>
        </p:spPr>
        <p:txBody>
          <a:bodyPr wrap="square" lIns="0" tIns="0" rIns="0" bIns="0" rtlCol="0" anchor="ctr"/>
          <a:lstStyle/>
          <a:p>
            <a:pPr marL="0" indent="0" algn="ctr">
              <a:buNone/>
            </a:pPr>
            <a:r>
              <a:rPr lang="en-US" sz="1400" dirty="0">
                <a:solidFill>
                  <a:srgbClr val="D9E6F5"/>
                </a:solidFill>
                <a:latin typeface="Times New Roman" pitchFamily="34" charset="0"/>
                <a:ea typeface="Times New Roman" pitchFamily="34" charset="-122"/>
                <a:cs typeface="Times New Roman" pitchFamily="34" charset="-120"/>
              </a:rPr>
              <a:t>Subject: Capstone Project - I  (2CEIT505)</a:t>
            </a:r>
            <a:endParaRPr lang="en-US" sz="1400" dirty="0"/>
          </a:p>
        </p:txBody>
      </p:sp>
      <p:sp>
        <p:nvSpPr>
          <p:cNvPr id="11" name="Text 9"/>
          <p:cNvSpPr/>
          <p:nvPr/>
        </p:nvSpPr>
        <p:spPr>
          <a:xfrm>
            <a:off x="548640" y="4846320"/>
            <a:ext cx="11094415" cy="320040"/>
          </a:xfrm>
          <a:prstGeom prst="rect">
            <a:avLst/>
          </a:prstGeom>
          <a:noFill/>
          <a:ln/>
        </p:spPr>
        <p:txBody>
          <a:bodyPr wrap="square" lIns="0" tIns="0" rIns="0" bIns="0" rtlCol="0" anchor="ctr"/>
          <a:lstStyle/>
          <a:p>
            <a:pPr marL="0" indent="0" algn="ctr">
              <a:buNone/>
            </a:pPr>
            <a:r>
              <a:rPr lang="en-US" sz="1400" b="1" dirty="0">
                <a:solidFill>
                  <a:srgbClr val="E8A62E"/>
                </a:solidFill>
                <a:latin typeface="Times New Roman" pitchFamily="34" charset="0"/>
                <a:ea typeface="Times New Roman" pitchFamily="34" charset="-122"/>
                <a:cs typeface="Times New Roman" pitchFamily="34" charset="-120"/>
              </a:rPr>
              <a:t>Team ID: </a:t>
            </a:r>
            <a:r>
              <a:rPr lang="en-US" sz="1400" b="1" dirty="0">
                <a:solidFill>
                  <a:srgbClr val="FFFFFF"/>
                </a:solidFill>
                <a:latin typeface="Times New Roman" pitchFamily="34" charset="0"/>
                <a:ea typeface="Times New Roman" pitchFamily="34" charset="-122"/>
                <a:cs typeface="Times New Roman" pitchFamily="34" charset="-120"/>
              </a:rPr>
              <a:t>CP1_053</a:t>
            </a:r>
            <a:endParaRPr lang="en-US" sz="1400" dirty="0"/>
          </a:p>
        </p:txBody>
      </p:sp>
      <p:sp>
        <p:nvSpPr>
          <p:cNvPr id="12" name="Text 10"/>
          <p:cNvSpPr/>
          <p:nvPr/>
        </p:nvSpPr>
        <p:spPr>
          <a:xfrm>
            <a:off x="548640" y="5212080"/>
            <a:ext cx="11094415" cy="320040"/>
          </a:xfrm>
          <a:prstGeom prst="rect">
            <a:avLst/>
          </a:prstGeom>
          <a:noFill/>
          <a:ln/>
        </p:spPr>
        <p:txBody>
          <a:bodyPr wrap="square" lIns="0" tIns="0" rIns="0" bIns="0" rtlCol="0" anchor="ctr"/>
          <a:lstStyle/>
          <a:p>
            <a:pPr algn="ctr"/>
            <a:r>
              <a:rPr lang="en-US" sz="1400" b="1" dirty="0">
                <a:solidFill>
                  <a:srgbClr val="E8A62E"/>
                </a:solidFill>
                <a:latin typeface="Times New Roman" pitchFamily="34" charset="0"/>
                <a:ea typeface="Times New Roman" pitchFamily="34" charset="-122"/>
                <a:cs typeface="Times New Roman" pitchFamily="34" charset="-120"/>
              </a:rPr>
              <a:t>Team Members: </a:t>
            </a:r>
            <a:r>
              <a:rPr lang="en-US" sz="1400" dirty="0">
                <a:solidFill>
                  <a:srgbClr val="FFFFFF"/>
                </a:solidFill>
                <a:latin typeface="Times New Roman" pitchFamily="34" charset="0"/>
                <a:ea typeface="Times New Roman" pitchFamily="34" charset="-122"/>
                <a:cs typeface="Times New Roman" pitchFamily="34" charset="-120"/>
              </a:rPr>
              <a:t>Ved Joshi •  Harsh Kashyap  •  Rakesh Kavara •  Oza Jeel  •  Vraj Soni</a:t>
            </a:r>
            <a:endParaRPr lang="en-US" sz="1400" dirty="0"/>
          </a:p>
        </p:txBody>
      </p:sp>
      <p:sp>
        <p:nvSpPr>
          <p:cNvPr id="13" name="Text 11"/>
          <p:cNvSpPr/>
          <p:nvPr/>
        </p:nvSpPr>
        <p:spPr>
          <a:xfrm>
            <a:off x="548640" y="5577840"/>
            <a:ext cx="11094415" cy="320040"/>
          </a:xfrm>
          <a:prstGeom prst="rect">
            <a:avLst/>
          </a:prstGeom>
          <a:noFill/>
          <a:ln/>
        </p:spPr>
        <p:txBody>
          <a:bodyPr wrap="square" lIns="0" tIns="0" rIns="0" bIns="0" rtlCol="0" anchor="ctr"/>
          <a:lstStyle/>
          <a:p>
            <a:pPr marL="0" indent="0" algn="ctr">
              <a:buNone/>
            </a:pPr>
            <a:r>
              <a:rPr lang="en-US" sz="1400" b="1" dirty="0">
                <a:solidFill>
                  <a:srgbClr val="E8A62E"/>
                </a:solidFill>
                <a:latin typeface="Times New Roman" pitchFamily="34" charset="0"/>
                <a:ea typeface="Times New Roman" pitchFamily="34" charset="-122"/>
                <a:cs typeface="Times New Roman" pitchFamily="34" charset="-120"/>
              </a:rPr>
              <a:t>Guided by:</a:t>
            </a:r>
            <a:r>
              <a:rPr lang="en-US" sz="1400" b="1" dirty="0">
                <a:solidFill>
                  <a:srgbClr val="FFFFFF"/>
                </a:solidFill>
                <a:latin typeface="Times New Roman" pitchFamily="34" charset="0"/>
                <a:ea typeface="Times New Roman" pitchFamily="34" charset="-122"/>
                <a:cs typeface="Times New Roman" pitchFamily="34" charset="-120"/>
              </a:rPr>
              <a:t> Dr. Manan Thakkar</a:t>
            </a:r>
            <a:endParaRPr lang="en-US" sz="1400" dirty="0"/>
          </a:p>
        </p:txBody>
      </p:sp>
      <p:sp>
        <p:nvSpPr>
          <p:cNvPr id="14" name="Text 12"/>
          <p:cNvSpPr/>
          <p:nvPr/>
        </p:nvSpPr>
        <p:spPr>
          <a:xfrm>
            <a:off x="548640" y="6217920"/>
            <a:ext cx="11094415" cy="320040"/>
          </a:xfrm>
          <a:prstGeom prst="rect">
            <a:avLst/>
          </a:prstGeom>
          <a:noFill/>
          <a:ln/>
        </p:spPr>
        <p:txBody>
          <a:bodyPr wrap="square" lIns="0" tIns="0" rIns="0" bIns="0" rtlCol="0" anchor="ctr"/>
          <a:lstStyle/>
          <a:p>
            <a:pPr marL="0" indent="0" algn="ctr">
              <a:buNone/>
            </a:pPr>
            <a:r>
              <a:rPr lang="en-US" sz="1100" dirty="0">
                <a:solidFill>
                  <a:srgbClr val="A9B7C6"/>
                </a:solidFill>
                <a:latin typeface="Times New Roman" pitchFamily="34" charset="0"/>
                <a:ea typeface="Times New Roman" pitchFamily="34" charset="-122"/>
                <a:cs typeface="Times New Roman" pitchFamily="34" charset="-120"/>
              </a:rPr>
              <a:t>Department of Computer Engineering  |  Ganpat University - U. V. Patel College of Engineering</a:t>
            </a:r>
            <a:endParaRPr lang="en-US" sz="1100" dirty="0"/>
          </a:p>
        </p:txBody>
      </p:sp>
      <p:grpSp>
        <p:nvGrpSpPr>
          <p:cNvPr id="19" name="Group 18">
            <a:extLst>
              <a:ext uri="{FF2B5EF4-FFF2-40B4-BE49-F238E27FC236}">
                <a16:creationId xmlns:a16="http://schemas.microsoft.com/office/drawing/2014/main" id="{46152F99-B716-C5E8-3468-6B9C103C4F0D}"/>
              </a:ext>
            </a:extLst>
          </p:cNvPr>
          <p:cNvGrpSpPr/>
          <p:nvPr/>
        </p:nvGrpSpPr>
        <p:grpSpPr>
          <a:xfrm>
            <a:off x="590402" y="510539"/>
            <a:ext cx="5753746" cy="815341"/>
            <a:chOff x="590402" y="510539"/>
            <a:chExt cx="5753746" cy="815341"/>
          </a:xfrm>
        </p:grpSpPr>
        <p:pic>
          <p:nvPicPr>
            <p:cNvPr id="16" name="Picture 15">
              <a:extLst>
                <a:ext uri="{FF2B5EF4-FFF2-40B4-BE49-F238E27FC236}">
                  <a16:creationId xmlns:a16="http://schemas.microsoft.com/office/drawing/2014/main" id="{65B140AD-DD06-DEC8-4997-16D10696167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rcRect l="42623"/>
            <a:stretch>
              <a:fillRect/>
            </a:stretch>
          </p:blipFill>
          <p:spPr>
            <a:xfrm>
              <a:off x="3039761" y="510539"/>
              <a:ext cx="3304387" cy="815341"/>
            </a:xfrm>
            <a:prstGeom prst="rect">
              <a:avLst/>
            </a:prstGeom>
          </p:spPr>
        </p:pic>
        <p:pic>
          <p:nvPicPr>
            <p:cNvPr id="18" name="Picture 17">
              <a:extLst>
                <a:ext uri="{FF2B5EF4-FFF2-40B4-BE49-F238E27FC236}">
                  <a16:creationId xmlns:a16="http://schemas.microsoft.com/office/drawing/2014/main" id="{D7E1C80F-DE09-6A49-4EED-A73C08B96B11}"/>
                </a:ext>
              </a:extLst>
            </p:cNvPr>
            <p:cNvPicPr>
              <a:picLocks noChangeAspect="1"/>
            </p:cNvPicPr>
            <p:nvPr/>
          </p:nvPicPr>
          <p:blipFill>
            <a:blip r:embed="rId5"/>
            <a:stretch>
              <a:fillRect/>
            </a:stretch>
          </p:blipFill>
          <p:spPr>
            <a:xfrm>
              <a:off x="590402" y="516716"/>
              <a:ext cx="2449360" cy="809164"/>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INTRODUCTION</a:t>
            </a:r>
            <a:endParaRPr lang="en-US" sz="3000" dirty="0"/>
          </a:p>
        </p:txBody>
      </p:sp>
      <p:sp>
        <p:nvSpPr>
          <p:cNvPr id="4" name="Text 2"/>
          <p:cNvSpPr/>
          <p:nvPr/>
        </p:nvSpPr>
        <p:spPr>
          <a:xfrm>
            <a:off x="548640" y="1417320"/>
            <a:ext cx="6949440" cy="4572000"/>
          </a:xfrm>
          <a:prstGeom prst="rect">
            <a:avLst/>
          </a:prstGeom>
          <a:noFill/>
          <a:ln/>
        </p:spPr>
        <p:txBody>
          <a:bodyPr wrap="square" lIns="0" tIns="0" rIns="0" bIns="0" rtlCol="0" anchor="t"/>
          <a:lstStyle/>
          <a:p>
            <a:pPr marL="0" indent="0" algn="just">
              <a:lnSpc>
                <a:spcPct val="125000"/>
              </a:lnSpc>
              <a:buNone/>
            </a:pPr>
            <a:r>
              <a:rPr lang="en-US" sz="1500" dirty="0">
                <a:solidFill>
                  <a:srgbClr val="25313D"/>
                </a:solidFill>
                <a:latin typeface="Times New Roman" pitchFamily="34" charset="0"/>
                <a:ea typeface="Times New Roman" pitchFamily="34" charset="-122"/>
                <a:cs typeface="Times New Roman" pitchFamily="34" charset="-120"/>
              </a:rPr>
              <a:t>Every college campus deals with a constant stream of misplaced belongings - ID cards, wallets, phones, bottles, bags and other items left behind in classrooms, libraries, canteens and hostels. On most campuses this is still handled informally: students ask around, check a notice board, or post in a WhatsApp group, and there is no single place to look.</a:t>
            </a:r>
            <a:endParaRPr lang="en-US" sz="1500" dirty="0"/>
          </a:p>
          <a:p>
            <a:pPr marL="0" indent="0" algn="just">
              <a:lnSpc>
                <a:spcPct val="125000"/>
              </a:lnSpc>
              <a:buNone/>
            </a:pPr>
            <a:endParaRPr lang="en-US" sz="1500" dirty="0"/>
          </a:p>
          <a:p>
            <a:pPr marL="0" indent="0" algn="just">
              <a:lnSpc>
                <a:spcPct val="125000"/>
              </a:lnSpc>
              <a:buNone/>
            </a:pPr>
            <a:r>
              <a:rPr lang="en-US" sz="1500" dirty="0">
                <a:solidFill>
                  <a:srgbClr val="25313D"/>
                </a:solidFill>
                <a:latin typeface="Times New Roman" pitchFamily="34" charset="0"/>
                <a:ea typeface="Times New Roman" pitchFamily="34" charset="-122"/>
                <a:cs typeface="Times New Roman" pitchFamily="34" charset="-120"/>
              </a:rPr>
              <a:t>FINDLY - Campus Lost &amp; Found is a centralised, web-based platform that brings this whole process onto one system. Students can report items they have lost and browse items that have been found, while authorised Staff and Admin users are responsible for logging found items and handling their custody and handover. The system works on role-based access control, so Student, Staff and Admin accounts each get the functions relevant to their responsibility - nothing more.</a:t>
            </a:r>
            <a:endParaRPr lang="en-US" sz="1500" dirty="0"/>
          </a:p>
        </p:txBody>
      </p:sp>
      <p:sp>
        <p:nvSpPr>
          <p:cNvPr id="5" name="Shape 3"/>
          <p:cNvSpPr/>
          <p:nvPr/>
        </p:nvSpPr>
        <p:spPr>
          <a:xfrm>
            <a:off x="8001000" y="1417320"/>
            <a:ext cx="3611880" cy="4572000"/>
          </a:xfrm>
          <a:prstGeom prst="roundRect">
            <a:avLst>
              <a:gd name="adj" fmla="val 2025"/>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6" name="Text 4"/>
          <p:cNvSpPr/>
          <p:nvPr/>
        </p:nvSpPr>
        <p:spPr>
          <a:xfrm>
            <a:off x="8229600" y="1600200"/>
            <a:ext cx="3154680" cy="32004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THREE USER ROLES</a:t>
            </a:r>
            <a:endParaRPr lang="en-US" sz="1300" dirty="0"/>
          </a:p>
        </p:txBody>
      </p:sp>
      <p:sp>
        <p:nvSpPr>
          <p:cNvPr id="7" name="Shape 5"/>
          <p:cNvSpPr/>
          <p:nvPr/>
        </p:nvSpPr>
        <p:spPr>
          <a:xfrm>
            <a:off x="8229600" y="2103120"/>
            <a:ext cx="384048" cy="384048"/>
          </a:xfrm>
          <a:prstGeom prst="ellipse">
            <a:avLst/>
          </a:prstGeom>
          <a:solidFill>
            <a:srgbClr val="1E3A5F"/>
          </a:solidFill>
          <a:ln/>
        </p:spPr>
      </p:sp>
      <p:sp>
        <p:nvSpPr>
          <p:cNvPr id="8" name="Text 6"/>
          <p:cNvSpPr/>
          <p:nvPr/>
        </p:nvSpPr>
        <p:spPr>
          <a:xfrm>
            <a:off x="8229600" y="21031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9" name="Text 7"/>
          <p:cNvSpPr/>
          <p:nvPr/>
        </p:nvSpPr>
        <p:spPr>
          <a:xfrm>
            <a:off x="8732520" y="2048256"/>
            <a:ext cx="2606040" cy="274320"/>
          </a:xfrm>
          <a:prstGeom prst="rect">
            <a:avLst/>
          </a:prstGeom>
          <a:noFill/>
          <a:ln/>
        </p:spPr>
        <p:txBody>
          <a:bodyPr wrap="square" lIns="0" tIns="0" rIns="0" bIns="0" rtlCol="0" anchor="ctr"/>
          <a:lstStyle/>
          <a:p>
            <a:pPr marL="0" indent="0">
              <a:buNone/>
            </a:pPr>
            <a:r>
              <a:rPr lang="en-US" sz="1400" b="1" dirty="0">
                <a:solidFill>
                  <a:srgbClr val="1E3A5F"/>
                </a:solidFill>
                <a:latin typeface="Times New Roman" pitchFamily="34" charset="0"/>
                <a:ea typeface="Times New Roman" pitchFamily="34" charset="-122"/>
                <a:cs typeface="Times New Roman" pitchFamily="34" charset="-120"/>
              </a:rPr>
              <a:t>Student</a:t>
            </a:r>
            <a:endParaRPr lang="en-US" sz="1400" dirty="0"/>
          </a:p>
        </p:txBody>
      </p:sp>
      <p:sp>
        <p:nvSpPr>
          <p:cNvPr id="10" name="Text 8"/>
          <p:cNvSpPr/>
          <p:nvPr/>
        </p:nvSpPr>
        <p:spPr>
          <a:xfrm>
            <a:off x="8732520" y="2322576"/>
            <a:ext cx="2606040" cy="502920"/>
          </a:xfrm>
          <a:prstGeom prst="rect">
            <a:avLst/>
          </a:prstGeom>
          <a:noFill/>
          <a:ln/>
        </p:spPr>
        <p:txBody>
          <a:bodyPr wrap="square" lIns="0" tIns="0" rIns="0" bIns="0" rtlCol="0" anchor="ctr"/>
          <a:lstStyle/>
          <a:p>
            <a:pPr marL="0" indent="0" algn="just">
              <a:buNone/>
            </a:pPr>
            <a:r>
              <a:rPr lang="en-US" sz="1150" dirty="0">
                <a:solidFill>
                  <a:srgbClr val="5B6B79"/>
                </a:solidFill>
                <a:latin typeface="Times New Roman" pitchFamily="34" charset="0"/>
                <a:ea typeface="Times New Roman" pitchFamily="34" charset="-122"/>
                <a:cs typeface="Times New Roman" pitchFamily="34" charset="-120"/>
              </a:rPr>
              <a:t>Reports lost items, browses found items</a:t>
            </a:r>
            <a:endParaRPr lang="en-US" sz="1150" dirty="0"/>
          </a:p>
        </p:txBody>
      </p:sp>
      <p:sp>
        <p:nvSpPr>
          <p:cNvPr id="11" name="Shape 9"/>
          <p:cNvSpPr/>
          <p:nvPr/>
        </p:nvSpPr>
        <p:spPr>
          <a:xfrm>
            <a:off x="8229600" y="3063240"/>
            <a:ext cx="384048" cy="384048"/>
          </a:xfrm>
          <a:prstGeom prst="ellipse">
            <a:avLst/>
          </a:prstGeom>
          <a:solidFill>
            <a:srgbClr val="1E3A5F"/>
          </a:solidFill>
          <a:ln/>
        </p:spPr>
      </p:sp>
      <p:sp>
        <p:nvSpPr>
          <p:cNvPr id="12" name="Text 10"/>
          <p:cNvSpPr/>
          <p:nvPr/>
        </p:nvSpPr>
        <p:spPr>
          <a:xfrm>
            <a:off x="8229600" y="30632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3" name="Text 11"/>
          <p:cNvSpPr/>
          <p:nvPr/>
        </p:nvSpPr>
        <p:spPr>
          <a:xfrm>
            <a:off x="8732520" y="3008376"/>
            <a:ext cx="2606040" cy="274320"/>
          </a:xfrm>
          <a:prstGeom prst="rect">
            <a:avLst/>
          </a:prstGeom>
          <a:noFill/>
          <a:ln/>
        </p:spPr>
        <p:txBody>
          <a:bodyPr wrap="square" lIns="0" tIns="0" rIns="0" bIns="0" rtlCol="0" anchor="ctr"/>
          <a:lstStyle/>
          <a:p>
            <a:pPr marL="0" indent="0">
              <a:buNone/>
            </a:pPr>
            <a:r>
              <a:rPr lang="en-US" sz="1400" b="1" dirty="0">
                <a:solidFill>
                  <a:srgbClr val="1E3A5F"/>
                </a:solidFill>
                <a:latin typeface="Times New Roman" pitchFamily="34" charset="0"/>
                <a:ea typeface="Times New Roman" pitchFamily="34" charset="-122"/>
                <a:cs typeface="Times New Roman" pitchFamily="34" charset="-120"/>
              </a:rPr>
              <a:t>Staff</a:t>
            </a:r>
            <a:endParaRPr lang="en-US" sz="1400" dirty="0"/>
          </a:p>
        </p:txBody>
      </p:sp>
      <p:sp>
        <p:nvSpPr>
          <p:cNvPr id="14" name="Text 12"/>
          <p:cNvSpPr/>
          <p:nvPr/>
        </p:nvSpPr>
        <p:spPr>
          <a:xfrm>
            <a:off x="8732520" y="3282696"/>
            <a:ext cx="2606040" cy="502920"/>
          </a:xfrm>
          <a:prstGeom prst="rect">
            <a:avLst/>
          </a:prstGeom>
          <a:noFill/>
          <a:ln/>
        </p:spPr>
        <p:txBody>
          <a:bodyPr wrap="square" lIns="0" tIns="0" rIns="0" bIns="0" rtlCol="0" anchor="ctr"/>
          <a:lstStyle/>
          <a:p>
            <a:pPr marL="0" indent="0" algn="just">
              <a:buNone/>
            </a:pPr>
            <a:r>
              <a:rPr lang="en-US" sz="1150" dirty="0">
                <a:solidFill>
                  <a:srgbClr val="5B6B79"/>
                </a:solidFill>
                <a:latin typeface="Times New Roman" pitchFamily="34" charset="0"/>
                <a:ea typeface="Times New Roman" pitchFamily="34" charset="-122"/>
                <a:cs typeface="Times New Roman" pitchFamily="34" charset="-120"/>
              </a:rPr>
              <a:t>Logs found items, manages custody &amp; handover</a:t>
            </a:r>
            <a:endParaRPr lang="en-US" sz="1150" dirty="0"/>
          </a:p>
        </p:txBody>
      </p:sp>
      <p:sp>
        <p:nvSpPr>
          <p:cNvPr id="15" name="Shape 13"/>
          <p:cNvSpPr/>
          <p:nvPr/>
        </p:nvSpPr>
        <p:spPr>
          <a:xfrm>
            <a:off x="8229600" y="4023360"/>
            <a:ext cx="384048" cy="384048"/>
          </a:xfrm>
          <a:prstGeom prst="ellipse">
            <a:avLst/>
          </a:prstGeom>
          <a:solidFill>
            <a:srgbClr val="E8A62E"/>
          </a:solidFill>
          <a:ln/>
        </p:spPr>
      </p:sp>
      <p:sp>
        <p:nvSpPr>
          <p:cNvPr id="16" name="Text 14"/>
          <p:cNvSpPr/>
          <p:nvPr/>
        </p:nvSpPr>
        <p:spPr>
          <a:xfrm>
            <a:off x="8229600" y="4023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7" name="Text 15"/>
          <p:cNvSpPr/>
          <p:nvPr/>
        </p:nvSpPr>
        <p:spPr>
          <a:xfrm>
            <a:off x="8732520" y="3968496"/>
            <a:ext cx="2606040" cy="274320"/>
          </a:xfrm>
          <a:prstGeom prst="rect">
            <a:avLst/>
          </a:prstGeom>
          <a:noFill/>
          <a:ln/>
        </p:spPr>
        <p:txBody>
          <a:bodyPr wrap="square" lIns="0" tIns="0" rIns="0" bIns="0" rtlCol="0" anchor="ctr"/>
          <a:lstStyle/>
          <a:p>
            <a:pPr marL="0" indent="0">
              <a:buNone/>
            </a:pPr>
            <a:r>
              <a:rPr lang="en-US" sz="1400" b="1" dirty="0">
                <a:solidFill>
                  <a:srgbClr val="1E3A5F"/>
                </a:solidFill>
                <a:latin typeface="Times New Roman" pitchFamily="34" charset="0"/>
                <a:ea typeface="Times New Roman" pitchFamily="34" charset="-122"/>
                <a:cs typeface="Times New Roman" pitchFamily="34" charset="-120"/>
              </a:rPr>
              <a:t>Admin</a:t>
            </a:r>
            <a:endParaRPr lang="en-US" sz="1400" dirty="0"/>
          </a:p>
        </p:txBody>
      </p:sp>
      <p:sp>
        <p:nvSpPr>
          <p:cNvPr id="18" name="Text 16"/>
          <p:cNvSpPr/>
          <p:nvPr/>
        </p:nvSpPr>
        <p:spPr>
          <a:xfrm>
            <a:off x="8732520" y="4242816"/>
            <a:ext cx="2606040" cy="502920"/>
          </a:xfrm>
          <a:prstGeom prst="rect">
            <a:avLst/>
          </a:prstGeom>
          <a:noFill/>
          <a:ln/>
        </p:spPr>
        <p:txBody>
          <a:bodyPr wrap="square" lIns="0" tIns="0" rIns="0" bIns="0" rtlCol="0" anchor="ctr"/>
          <a:lstStyle/>
          <a:p>
            <a:pPr marL="0" indent="0" algn="just">
              <a:buNone/>
            </a:pPr>
            <a:r>
              <a:rPr lang="en-US" sz="1150" dirty="0">
                <a:solidFill>
                  <a:srgbClr val="5B6B79"/>
                </a:solidFill>
                <a:latin typeface="Times New Roman" pitchFamily="34" charset="0"/>
                <a:ea typeface="Times New Roman" pitchFamily="34" charset="-122"/>
                <a:cs typeface="Times New Roman" pitchFamily="34" charset="-120"/>
              </a:rPr>
              <a:t>Full </a:t>
            </a:r>
            <a:r>
              <a:rPr lang="en-US" sz="1150">
                <a:solidFill>
                  <a:srgbClr val="5B6B79"/>
                </a:solidFill>
                <a:latin typeface="Times New Roman" pitchFamily="34" charset="0"/>
                <a:ea typeface="Times New Roman" pitchFamily="34" charset="-122"/>
                <a:cs typeface="Times New Roman" pitchFamily="34" charset="-120"/>
              </a:rPr>
              <a:t>control - </a:t>
            </a:r>
            <a:r>
              <a:rPr lang="en-US" sz="1150" dirty="0">
                <a:solidFill>
                  <a:srgbClr val="5B6B79"/>
                </a:solidFill>
                <a:latin typeface="Times New Roman" pitchFamily="34" charset="0"/>
                <a:ea typeface="Times New Roman" pitchFamily="34" charset="-122"/>
                <a:cs typeface="Times New Roman" pitchFamily="34" charset="-120"/>
              </a:rPr>
              <a:t>users, categories, records, reports</a:t>
            </a:r>
            <a:endParaRPr lang="en-US" sz="1150" dirty="0"/>
          </a:p>
        </p:txBody>
      </p:sp>
      <p:sp>
        <p:nvSpPr>
          <p:cNvPr id="19" name="Text 17"/>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20" name="Text 18"/>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Introduction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PROBLEM STATEMENT</a:t>
            </a:r>
            <a:endParaRPr lang="en-US" sz="3000" dirty="0"/>
          </a:p>
        </p:txBody>
      </p:sp>
      <p:sp>
        <p:nvSpPr>
          <p:cNvPr id="4" name="Text 2"/>
          <p:cNvSpPr/>
          <p:nvPr/>
        </p:nvSpPr>
        <p:spPr>
          <a:xfrm>
            <a:off x="548640" y="1417320"/>
            <a:ext cx="11094415" cy="1554480"/>
          </a:xfrm>
          <a:prstGeom prst="rect">
            <a:avLst/>
          </a:prstGeom>
          <a:noFill/>
          <a:ln/>
        </p:spPr>
        <p:txBody>
          <a:bodyPr wrap="square" lIns="0" tIns="0" rIns="0" bIns="0" rtlCol="0" anchor="t"/>
          <a:lstStyle/>
          <a:p>
            <a:pPr marL="0" indent="0" algn="just">
              <a:lnSpc>
                <a:spcPct val="125000"/>
              </a:lnSpc>
              <a:buNone/>
            </a:pPr>
            <a:r>
              <a:rPr lang="en-US" sz="1500" dirty="0">
                <a:solidFill>
                  <a:srgbClr val="25313D"/>
                </a:solidFill>
                <a:latin typeface="Times New Roman" pitchFamily="34" charset="0"/>
                <a:ea typeface="Times New Roman" pitchFamily="34" charset="-122"/>
                <a:cs typeface="Times New Roman" pitchFamily="34" charset="-120"/>
              </a:rPr>
              <a:t>There is currently no dedicated platform for managing lost and found items on our campus. When a student loses something, the only option is to ask around, check a notice board, or wait for someone to mention it in a group </a:t>
            </a:r>
            <a:r>
              <a:rPr lang="en-US" sz="1500">
                <a:solidFill>
                  <a:srgbClr val="25313D"/>
                </a:solidFill>
                <a:latin typeface="Times New Roman" pitchFamily="34" charset="0"/>
                <a:ea typeface="Times New Roman" pitchFamily="34" charset="-122"/>
                <a:cs typeface="Times New Roman" pitchFamily="34" charset="-120"/>
              </a:rPr>
              <a:t>chat - </a:t>
            </a:r>
            <a:r>
              <a:rPr lang="en-US" sz="1500" dirty="0">
                <a:solidFill>
                  <a:srgbClr val="25313D"/>
                </a:solidFill>
                <a:latin typeface="Times New Roman" pitchFamily="34" charset="0"/>
                <a:ea typeface="Times New Roman" pitchFamily="34" charset="-122"/>
                <a:cs typeface="Times New Roman" pitchFamily="34" charset="-120"/>
              </a:rPr>
              <a:t>and a person who finds an item usually just hands it to whichever staff member is nearby, with no record of it anywhere. Because none of this goes through a common system, information stays limited to whoever was directly involved, and there is no structured way to search, track status, or know where a found item is currently being kept.</a:t>
            </a:r>
            <a:endParaRPr lang="en-US" sz="1500" dirty="0"/>
          </a:p>
        </p:txBody>
      </p:sp>
      <p:sp>
        <p:nvSpPr>
          <p:cNvPr id="5" name="Text 3"/>
          <p:cNvSpPr/>
          <p:nvPr/>
        </p:nvSpPr>
        <p:spPr>
          <a:xfrm>
            <a:off x="548640" y="3063240"/>
            <a:ext cx="7315200"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KEY CHALLENGES WITH THE EXISTING (MANUAL) APPROACH</a:t>
            </a:r>
            <a:endParaRPr lang="en-US" sz="1300" dirty="0"/>
          </a:p>
        </p:txBody>
      </p:sp>
      <p:sp>
        <p:nvSpPr>
          <p:cNvPr id="6" name="Text 4"/>
          <p:cNvSpPr/>
          <p:nvPr/>
        </p:nvSpPr>
        <p:spPr>
          <a:xfrm>
            <a:off x="548640" y="3429000"/>
            <a:ext cx="5364328" cy="274320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No centralized </a:t>
            </a:r>
            <a:r>
              <a:rPr lang="en-US" sz="1350">
                <a:solidFill>
                  <a:srgbClr val="25313D"/>
                </a:solidFill>
                <a:latin typeface="Times New Roman" pitchFamily="34" charset="0"/>
                <a:ea typeface="Times New Roman" pitchFamily="34" charset="-122"/>
                <a:cs typeface="Times New Roman" pitchFamily="34" charset="-120"/>
              </a:rPr>
              <a:t>record - </a:t>
            </a:r>
            <a:r>
              <a:rPr lang="en-US" sz="1350" dirty="0">
                <a:solidFill>
                  <a:srgbClr val="25313D"/>
                </a:solidFill>
                <a:latin typeface="Times New Roman" pitchFamily="34" charset="0"/>
                <a:ea typeface="Times New Roman" pitchFamily="34" charset="-122"/>
                <a:cs typeface="Times New Roman" pitchFamily="34" charset="-120"/>
              </a:rPr>
              <a:t>information is scattered across chats, conversations and notice boards</a:t>
            </a:r>
            <a:endParaRPr lang="en-US" sz="1350" dirty="0"/>
          </a:p>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No structured </a:t>
            </a:r>
            <a:r>
              <a:rPr lang="en-US" sz="1350">
                <a:solidFill>
                  <a:srgbClr val="25313D"/>
                </a:solidFill>
                <a:latin typeface="Times New Roman" pitchFamily="34" charset="0"/>
                <a:ea typeface="Times New Roman" pitchFamily="34" charset="-122"/>
                <a:cs typeface="Times New Roman" pitchFamily="34" charset="-120"/>
              </a:rPr>
              <a:t>search - </a:t>
            </a:r>
            <a:r>
              <a:rPr lang="en-US" sz="1350" dirty="0">
                <a:solidFill>
                  <a:srgbClr val="25313D"/>
                </a:solidFill>
                <a:latin typeface="Times New Roman" pitchFamily="34" charset="0"/>
                <a:ea typeface="Times New Roman" pitchFamily="34" charset="-122"/>
                <a:cs typeface="Times New Roman" pitchFamily="34" charset="-120"/>
              </a:rPr>
              <a:t>students cannot filter found items by category, date or location</a:t>
            </a:r>
            <a:endParaRPr lang="en-US" sz="1350" dirty="0"/>
          </a:p>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No dedicated found-item logging system for Staff/Admin to record what has been handed in</a:t>
            </a:r>
            <a:endParaRPr lang="en-US" sz="1350" dirty="0"/>
          </a:p>
        </p:txBody>
      </p:sp>
      <p:sp>
        <p:nvSpPr>
          <p:cNvPr id="7" name="Text 5"/>
          <p:cNvSpPr/>
          <p:nvPr/>
        </p:nvSpPr>
        <p:spPr>
          <a:xfrm>
            <a:off x="6278728" y="3429000"/>
            <a:ext cx="5364328" cy="274320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No visibility into item </a:t>
            </a:r>
            <a:r>
              <a:rPr lang="en-US" sz="1350">
                <a:solidFill>
                  <a:srgbClr val="25313D"/>
                </a:solidFill>
                <a:latin typeface="Times New Roman" pitchFamily="34" charset="0"/>
                <a:ea typeface="Times New Roman" pitchFamily="34" charset="-122"/>
                <a:cs typeface="Times New Roman" pitchFamily="34" charset="-120"/>
              </a:rPr>
              <a:t>status - </a:t>
            </a:r>
            <a:r>
              <a:rPr lang="en-US" sz="1350" dirty="0">
                <a:solidFill>
                  <a:srgbClr val="25313D"/>
                </a:solidFill>
                <a:latin typeface="Times New Roman" pitchFamily="34" charset="0"/>
                <a:ea typeface="Times New Roman" pitchFamily="34" charset="-122"/>
                <a:cs typeface="Times New Roman" pitchFamily="34" charset="-120"/>
              </a:rPr>
              <a:t>active, resolved, or still being handled</a:t>
            </a:r>
            <a:endParaRPr lang="en-US" sz="1350" dirty="0"/>
          </a:p>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No role-based separation between what Students, Staff and Admin should be able to do</a:t>
            </a:r>
            <a:endParaRPr lang="en-US" sz="1350" dirty="0"/>
          </a:p>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No administrative dashboard to view overall lost-and-found activity across campus</a:t>
            </a:r>
            <a:endParaRPr lang="en-US" sz="1350" dirty="0"/>
          </a:p>
        </p:txBody>
      </p:sp>
      <p:sp>
        <p:nvSpPr>
          <p:cNvPr id="8" name="Text 6"/>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9" name="Text 7"/>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Problem Statement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PROPOSED SOLUTION</a:t>
            </a:r>
            <a:endParaRPr lang="en-US" sz="3000" dirty="0"/>
          </a:p>
        </p:txBody>
      </p:sp>
      <p:sp>
        <p:nvSpPr>
          <p:cNvPr id="4" name="Text 2"/>
          <p:cNvSpPr/>
          <p:nvPr/>
        </p:nvSpPr>
        <p:spPr>
          <a:xfrm>
            <a:off x="548640" y="1417320"/>
            <a:ext cx="11094415" cy="1828800"/>
          </a:xfrm>
          <a:prstGeom prst="rect">
            <a:avLst/>
          </a:prstGeom>
          <a:noFill/>
          <a:ln/>
        </p:spPr>
        <p:txBody>
          <a:bodyPr wrap="square" lIns="0" tIns="0" rIns="0" bIns="0" rtlCol="0" anchor="t"/>
          <a:lstStyle/>
          <a:p>
            <a:pPr marL="0" indent="0" algn="just">
              <a:lnSpc>
                <a:spcPct val="125000"/>
              </a:lnSpc>
              <a:buNone/>
            </a:pPr>
            <a:r>
              <a:rPr lang="en-US" sz="1500" dirty="0">
                <a:solidFill>
                  <a:srgbClr val="25313D"/>
                </a:solidFill>
                <a:latin typeface="Times New Roman" pitchFamily="34" charset="0"/>
                <a:ea typeface="Times New Roman" pitchFamily="34" charset="-122"/>
                <a:cs typeface="Times New Roman" pitchFamily="34" charset="-120"/>
              </a:rPr>
              <a:t>FINDLY replaces this informal process with a single, structured, role-based web platform. Students get one place to report a lost item and search through everything that has been found, instead of depending on word of mouth. Staff and Admin </a:t>
            </a:r>
            <a:r>
              <a:rPr lang="en-US" sz="1500">
                <a:solidFill>
                  <a:srgbClr val="25313D"/>
                </a:solidFill>
                <a:latin typeface="Times New Roman" pitchFamily="34" charset="0"/>
                <a:ea typeface="Times New Roman" pitchFamily="34" charset="-122"/>
                <a:cs typeface="Times New Roman" pitchFamily="34" charset="-120"/>
              </a:rPr>
              <a:t>users - </a:t>
            </a:r>
            <a:r>
              <a:rPr lang="en-US" sz="1500" dirty="0">
                <a:solidFill>
                  <a:srgbClr val="25313D"/>
                </a:solidFill>
                <a:latin typeface="Times New Roman" pitchFamily="34" charset="0"/>
                <a:ea typeface="Times New Roman" pitchFamily="34" charset="-122"/>
                <a:cs typeface="Times New Roman" pitchFamily="34" charset="-120"/>
              </a:rPr>
              <a:t>the people who actually receive items handed in at a security desk or admin </a:t>
            </a:r>
            <a:r>
              <a:rPr lang="en-US" sz="1500">
                <a:solidFill>
                  <a:srgbClr val="25313D"/>
                </a:solidFill>
                <a:latin typeface="Times New Roman" pitchFamily="34" charset="0"/>
                <a:ea typeface="Times New Roman" pitchFamily="34" charset="-122"/>
                <a:cs typeface="Times New Roman" pitchFamily="34" charset="-120"/>
              </a:rPr>
              <a:t>office - </a:t>
            </a:r>
            <a:r>
              <a:rPr lang="en-US" sz="1500" dirty="0">
                <a:solidFill>
                  <a:srgbClr val="25313D"/>
                </a:solidFill>
                <a:latin typeface="Times New Roman" pitchFamily="34" charset="0"/>
                <a:ea typeface="Times New Roman" pitchFamily="34" charset="-122"/>
                <a:cs typeface="Times New Roman" pitchFamily="34" charset="-120"/>
              </a:rPr>
              <a:t>log found items into the system and keep track of where each one is being held until it is resolved. When the rightful owner comes forward, Staff/Admin verify them in person and record their name, contact number and enrollment number before handing the item over, so every handover has a proper record behind it.</a:t>
            </a:r>
            <a:endParaRPr lang="en-US" sz="1500" dirty="0"/>
          </a:p>
        </p:txBody>
      </p:sp>
      <p:sp>
        <p:nvSpPr>
          <p:cNvPr id="5" name="Shape 3"/>
          <p:cNvSpPr/>
          <p:nvPr/>
        </p:nvSpPr>
        <p:spPr>
          <a:xfrm>
            <a:off x="586588" y="3520440"/>
            <a:ext cx="2514600" cy="1737360"/>
          </a:xfrm>
          <a:prstGeom prst="roundRect">
            <a:avLst>
              <a:gd name="adj" fmla="val 4211"/>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6" name="Shape 4"/>
          <p:cNvSpPr/>
          <p:nvPr/>
        </p:nvSpPr>
        <p:spPr>
          <a:xfrm>
            <a:off x="1569568" y="3749040"/>
            <a:ext cx="548640" cy="548640"/>
          </a:xfrm>
          <a:prstGeom prst="ellipse">
            <a:avLst/>
          </a:prstGeom>
          <a:solidFill>
            <a:srgbClr val="1E3A5F"/>
          </a:solidFill>
          <a:ln/>
        </p:spPr>
      </p:sp>
      <p:sp>
        <p:nvSpPr>
          <p:cNvPr id="7" name="Text 5"/>
          <p:cNvSpPr/>
          <p:nvPr/>
        </p:nvSpPr>
        <p:spPr>
          <a:xfrm>
            <a:off x="1569568" y="3749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1</a:t>
            </a:r>
            <a:endParaRPr lang="en-US" sz="2000" dirty="0"/>
          </a:p>
        </p:txBody>
      </p:sp>
      <p:sp>
        <p:nvSpPr>
          <p:cNvPr id="8" name="Text 6"/>
          <p:cNvSpPr/>
          <p:nvPr/>
        </p:nvSpPr>
        <p:spPr>
          <a:xfrm>
            <a:off x="678028" y="4434840"/>
            <a:ext cx="2331720" cy="731520"/>
          </a:xfrm>
          <a:prstGeom prst="rect">
            <a:avLst/>
          </a:prstGeom>
          <a:noFill/>
          <a:ln/>
        </p:spPr>
        <p:txBody>
          <a:bodyPr wrap="square" lIns="0" tIns="0" rIns="0" bIns="0" rtlCol="0" anchor="t"/>
          <a:lstStyle/>
          <a:p>
            <a:pPr marL="0" indent="0" algn="ctr">
              <a:buNone/>
            </a:pPr>
            <a:r>
              <a:rPr lang="en-US" sz="1250" dirty="0">
                <a:solidFill>
                  <a:srgbClr val="25313D"/>
                </a:solidFill>
                <a:latin typeface="Times New Roman" pitchFamily="34" charset="0"/>
                <a:ea typeface="Times New Roman" pitchFamily="34" charset="-122"/>
                <a:cs typeface="Times New Roman" pitchFamily="34" charset="-120"/>
              </a:rPr>
              <a:t>Student reports</a:t>
            </a:r>
            <a:endParaRPr lang="en-US" sz="1250" dirty="0"/>
          </a:p>
          <a:p>
            <a:pPr marL="0" indent="0" algn="ctr">
              <a:buNone/>
            </a:pPr>
            <a:r>
              <a:rPr lang="en-US" sz="1250" dirty="0">
                <a:solidFill>
                  <a:srgbClr val="25313D"/>
                </a:solidFill>
                <a:latin typeface="Times New Roman" pitchFamily="34" charset="0"/>
                <a:ea typeface="Times New Roman" pitchFamily="34" charset="-122"/>
                <a:cs typeface="Times New Roman" pitchFamily="34" charset="-120"/>
              </a:rPr>
              <a:t>a Lost item</a:t>
            </a:r>
            <a:endParaRPr lang="en-US" sz="1250" dirty="0"/>
          </a:p>
        </p:txBody>
      </p:sp>
      <p:sp>
        <p:nvSpPr>
          <p:cNvPr id="9" name="Text 7"/>
          <p:cNvSpPr/>
          <p:nvPr/>
        </p:nvSpPr>
        <p:spPr>
          <a:xfrm>
            <a:off x="3101188" y="4023360"/>
            <a:ext cx="320040" cy="548640"/>
          </a:xfrm>
          <a:prstGeom prst="rect">
            <a:avLst/>
          </a:prstGeom>
          <a:noFill/>
          <a:ln/>
        </p:spPr>
        <p:txBody>
          <a:bodyPr wrap="square" lIns="0" tIns="0" rIns="0" bIns="0" rtlCol="0" anchor="ctr"/>
          <a:lstStyle/>
          <a:p>
            <a:pPr marL="0" indent="0" algn="ctr">
              <a:buNone/>
            </a:pPr>
            <a:r>
              <a:rPr lang="en-US" sz="2000" b="1" dirty="0">
                <a:solidFill>
                  <a:srgbClr val="E8A62E"/>
                </a:solidFill>
                <a:latin typeface="Times New Roman" pitchFamily="34" charset="0"/>
                <a:ea typeface="Times New Roman" pitchFamily="34" charset="-122"/>
                <a:cs typeface="Times New Roman" pitchFamily="34" charset="-120"/>
              </a:rPr>
              <a:t>→</a:t>
            </a:r>
            <a:endParaRPr lang="en-US" sz="2000" dirty="0"/>
          </a:p>
        </p:txBody>
      </p:sp>
      <p:sp>
        <p:nvSpPr>
          <p:cNvPr id="10" name="Shape 8"/>
          <p:cNvSpPr/>
          <p:nvPr/>
        </p:nvSpPr>
        <p:spPr>
          <a:xfrm>
            <a:off x="3421228" y="3520440"/>
            <a:ext cx="2514600" cy="1737360"/>
          </a:xfrm>
          <a:prstGeom prst="roundRect">
            <a:avLst>
              <a:gd name="adj" fmla="val 4211"/>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11" name="Shape 9"/>
          <p:cNvSpPr/>
          <p:nvPr/>
        </p:nvSpPr>
        <p:spPr>
          <a:xfrm>
            <a:off x="4404208" y="3749040"/>
            <a:ext cx="548640" cy="548640"/>
          </a:xfrm>
          <a:prstGeom prst="ellipse">
            <a:avLst/>
          </a:prstGeom>
          <a:solidFill>
            <a:srgbClr val="1E3A5F"/>
          </a:solidFill>
          <a:ln/>
        </p:spPr>
      </p:sp>
      <p:sp>
        <p:nvSpPr>
          <p:cNvPr id="12" name="Text 10"/>
          <p:cNvSpPr/>
          <p:nvPr/>
        </p:nvSpPr>
        <p:spPr>
          <a:xfrm>
            <a:off x="4404208" y="3749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2</a:t>
            </a:r>
            <a:endParaRPr lang="en-US" sz="2000" dirty="0"/>
          </a:p>
        </p:txBody>
      </p:sp>
      <p:sp>
        <p:nvSpPr>
          <p:cNvPr id="13" name="Text 11"/>
          <p:cNvSpPr/>
          <p:nvPr/>
        </p:nvSpPr>
        <p:spPr>
          <a:xfrm>
            <a:off x="3512668" y="4434840"/>
            <a:ext cx="2331720" cy="731520"/>
          </a:xfrm>
          <a:prstGeom prst="rect">
            <a:avLst/>
          </a:prstGeom>
          <a:noFill/>
          <a:ln/>
        </p:spPr>
        <p:txBody>
          <a:bodyPr wrap="square" lIns="0" tIns="0" rIns="0" bIns="0" rtlCol="0" anchor="t"/>
          <a:lstStyle/>
          <a:p>
            <a:pPr marL="0" indent="0" algn="ctr">
              <a:buNone/>
            </a:pPr>
            <a:r>
              <a:rPr lang="en-US" sz="1250" dirty="0">
                <a:solidFill>
                  <a:srgbClr val="25313D"/>
                </a:solidFill>
                <a:latin typeface="Times New Roman" pitchFamily="34" charset="0"/>
                <a:ea typeface="Times New Roman" pitchFamily="34" charset="-122"/>
                <a:cs typeface="Times New Roman" pitchFamily="34" charset="-120"/>
              </a:rPr>
              <a:t>Staff/Admin logs</a:t>
            </a:r>
            <a:endParaRPr lang="en-US" sz="1250" dirty="0"/>
          </a:p>
          <a:p>
            <a:pPr marL="0" indent="0" algn="ctr">
              <a:buNone/>
            </a:pPr>
            <a:r>
              <a:rPr lang="en-US" sz="1250" dirty="0">
                <a:solidFill>
                  <a:srgbClr val="25313D"/>
                </a:solidFill>
                <a:latin typeface="Times New Roman" pitchFamily="34" charset="0"/>
                <a:ea typeface="Times New Roman" pitchFamily="34" charset="-122"/>
                <a:cs typeface="Times New Roman" pitchFamily="34" charset="-120"/>
              </a:rPr>
              <a:t>a Found item</a:t>
            </a:r>
            <a:endParaRPr lang="en-US" sz="1250" dirty="0"/>
          </a:p>
        </p:txBody>
      </p:sp>
      <p:sp>
        <p:nvSpPr>
          <p:cNvPr id="14" name="Text 12"/>
          <p:cNvSpPr/>
          <p:nvPr/>
        </p:nvSpPr>
        <p:spPr>
          <a:xfrm>
            <a:off x="5935828" y="4023360"/>
            <a:ext cx="320040" cy="548640"/>
          </a:xfrm>
          <a:prstGeom prst="rect">
            <a:avLst/>
          </a:prstGeom>
          <a:noFill/>
          <a:ln/>
        </p:spPr>
        <p:txBody>
          <a:bodyPr wrap="square" lIns="0" tIns="0" rIns="0" bIns="0" rtlCol="0" anchor="ctr"/>
          <a:lstStyle/>
          <a:p>
            <a:pPr marL="0" indent="0" algn="ctr">
              <a:buNone/>
            </a:pPr>
            <a:r>
              <a:rPr lang="en-US" sz="2000" b="1" dirty="0">
                <a:solidFill>
                  <a:srgbClr val="E8A62E"/>
                </a:solidFill>
                <a:latin typeface="Times New Roman" pitchFamily="34" charset="0"/>
                <a:ea typeface="Times New Roman" pitchFamily="34" charset="-122"/>
                <a:cs typeface="Times New Roman" pitchFamily="34" charset="-120"/>
              </a:rPr>
              <a:t>→</a:t>
            </a:r>
            <a:endParaRPr lang="en-US" sz="2000" dirty="0"/>
          </a:p>
        </p:txBody>
      </p:sp>
      <p:sp>
        <p:nvSpPr>
          <p:cNvPr id="15" name="Shape 13"/>
          <p:cNvSpPr/>
          <p:nvPr/>
        </p:nvSpPr>
        <p:spPr>
          <a:xfrm>
            <a:off x="6255868" y="3520440"/>
            <a:ext cx="2514600" cy="1737360"/>
          </a:xfrm>
          <a:prstGeom prst="roundRect">
            <a:avLst>
              <a:gd name="adj" fmla="val 4211"/>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16" name="Shape 14"/>
          <p:cNvSpPr/>
          <p:nvPr/>
        </p:nvSpPr>
        <p:spPr>
          <a:xfrm>
            <a:off x="7238848" y="3749040"/>
            <a:ext cx="548640" cy="548640"/>
          </a:xfrm>
          <a:prstGeom prst="ellipse">
            <a:avLst/>
          </a:prstGeom>
          <a:solidFill>
            <a:srgbClr val="1E3A5F"/>
          </a:solidFill>
          <a:ln/>
        </p:spPr>
      </p:sp>
      <p:sp>
        <p:nvSpPr>
          <p:cNvPr id="17" name="Text 15"/>
          <p:cNvSpPr/>
          <p:nvPr/>
        </p:nvSpPr>
        <p:spPr>
          <a:xfrm>
            <a:off x="7238848" y="3749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3</a:t>
            </a:r>
            <a:endParaRPr lang="en-US" sz="2000" dirty="0"/>
          </a:p>
        </p:txBody>
      </p:sp>
      <p:sp>
        <p:nvSpPr>
          <p:cNvPr id="18" name="Text 16"/>
          <p:cNvSpPr/>
          <p:nvPr/>
        </p:nvSpPr>
        <p:spPr>
          <a:xfrm>
            <a:off x="6347308" y="4434840"/>
            <a:ext cx="2331720" cy="731520"/>
          </a:xfrm>
          <a:prstGeom prst="rect">
            <a:avLst/>
          </a:prstGeom>
          <a:noFill/>
          <a:ln/>
        </p:spPr>
        <p:txBody>
          <a:bodyPr wrap="square" lIns="0" tIns="0" rIns="0" bIns="0" rtlCol="0" anchor="t"/>
          <a:lstStyle/>
          <a:p>
            <a:pPr marL="0" indent="0" algn="ctr">
              <a:buNone/>
            </a:pPr>
            <a:r>
              <a:rPr lang="en-US" sz="1250" dirty="0">
                <a:solidFill>
                  <a:srgbClr val="25313D"/>
                </a:solidFill>
                <a:latin typeface="Times New Roman" pitchFamily="34" charset="0"/>
                <a:ea typeface="Times New Roman" pitchFamily="34" charset="-122"/>
                <a:cs typeface="Times New Roman" pitchFamily="34" charset="-120"/>
              </a:rPr>
              <a:t>Student browses &amp;</a:t>
            </a:r>
            <a:endParaRPr lang="en-US" sz="1250" dirty="0"/>
          </a:p>
          <a:p>
            <a:pPr marL="0" indent="0" algn="ctr">
              <a:buNone/>
            </a:pPr>
            <a:r>
              <a:rPr lang="en-US" sz="1250" dirty="0">
                <a:solidFill>
                  <a:srgbClr val="25313D"/>
                </a:solidFill>
                <a:latin typeface="Times New Roman" pitchFamily="34" charset="0"/>
                <a:ea typeface="Times New Roman" pitchFamily="34" charset="-122"/>
                <a:cs typeface="Times New Roman" pitchFamily="34" charset="-120"/>
              </a:rPr>
              <a:t>recognises their item</a:t>
            </a:r>
            <a:endParaRPr lang="en-US" sz="1250" dirty="0"/>
          </a:p>
        </p:txBody>
      </p:sp>
      <p:sp>
        <p:nvSpPr>
          <p:cNvPr id="19" name="Text 17"/>
          <p:cNvSpPr/>
          <p:nvPr/>
        </p:nvSpPr>
        <p:spPr>
          <a:xfrm>
            <a:off x="8770468" y="4023360"/>
            <a:ext cx="320040" cy="548640"/>
          </a:xfrm>
          <a:prstGeom prst="rect">
            <a:avLst/>
          </a:prstGeom>
          <a:noFill/>
          <a:ln/>
        </p:spPr>
        <p:txBody>
          <a:bodyPr wrap="square" lIns="0" tIns="0" rIns="0" bIns="0" rtlCol="0" anchor="ctr"/>
          <a:lstStyle/>
          <a:p>
            <a:pPr marL="0" indent="0" algn="ctr">
              <a:buNone/>
            </a:pPr>
            <a:r>
              <a:rPr lang="en-US" sz="2000" b="1" dirty="0">
                <a:solidFill>
                  <a:srgbClr val="E8A62E"/>
                </a:solidFill>
                <a:latin typeface="Times New Roman" pitchFamily="34" charset="0"/>
                <a:ea typeface="Times New Roman" pitchFamily="34" charset="-122"/>
                <a:cs typeface="Times New Roman" pitchFamily="34" charset="-120"/>
              </a:rPr>
              <a:t>→</a:t>
            </a:r>
            <a:endParaRPr lang="en-US" sz="2000" dirty="0"/>
          </a:p>
        </p:txBody>
      </p:sp>
      <p:sp>
        <p:nvSpPr>
          <p:cNvPr id="20" name="Shape 18"/>
          <p:cNvSpPr/>
          <p:nvPr/>
        </p:nvSpPr>
        <p:spPr>
          <a:xfrm>
            <a:off x="9090508" y="3520440"/>
            <a:ext cx="2514600" cy="1737360"/>
          </a:xfrm>
          <a:prstGeom prst="roundRect">
            <a:avLst>
              <a:gd name="adj" fmla="val 4211"/>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21" name="Shape 19"/>
          <p:cNvSpPr/>
          <p:nvPr/>
        </p:nvSpPr>
        <p:spPr>
          <a:xfrm>
            <a:off x="10073488" y="3749040"/>
            <a:ext cx="548640" cy="548640"/>
          </a:xfrm>
          <a:prstGeom prst="ellipse">
            <a:avLst/>
          </a:prstGeom>
          <a:solidFill>
            <a:srgbClr val="E8A62E"/>
          </a:solidFill>
          <a:ln/>
        </p:spPr>
      </p:sp>
      <p:sp>
        <p:nvSpPr>
          <p:cNvPr id="22" name="Text 20"/>
          <p:cNvSpPr/>
          <p:nvPr/>
        </p:nvSpPr>
        <p:spPr>
          <a:xfrm>
            <a:off x="10073488" y="3749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4</a:t>
            </a:r>
            <a:endParaRPr lang="en-US" sz="2000" dirty="0"/>
          </a:p>
        </p:txBody>
      </p:sp>
      <p:sp>
        <p:nvSpPr>
          <p:cNvPr id="23" name="Text 21"/>
          <p:cNvSpPr/>
          <p:nvPr/>
        </p:nvSpPr>
        <p:spPr>
          <a:xfrm>
            <a:off x="9181948" y="4434840"/>
            <a:ext cx="2331720" cy="731520"/>
          </a:xfrm>
          <a:prstGeom prst="rect">
            <a:avLst/>
          </a:prstGeom>
          <a:noFill/>
          <a:ln/>
        </p:spPr>
        <p:txBody>
          <a:bodyPr wrap="square" lIns="0" tIns="0" rIns="0" bIns="0" rtlCol="0" anchor="t"/>
          <a:lstStyle/>
          <a:p>
            <a:pPr marL="0" indent="0" algn="ctr">
              <a:buNone/>
            </a:pPr>
            <a:r>
              <a:rPr lang="en-US" sz="1250" dirty="0">
                <a:solidFill>
                  <a:srgbClr val="25313D"/>
                </a:solidFill>
                <a:latin typeface="Times New Roman" pitchFamily="34" charset="0"/>
                <a:ea typeface="Times New Roman" pitchFamily="34" charset="-122"/>
                <a:cs typeface="Times New Roman" pitchFamily="34" charset="-120"/>
              </a:rPr>
              <a:t>Staff/Admin verify</a:t>
            </a:r>
            <a:endParaRPr lang="en-US" sz="1250" dirty="0"/>
          </a:p>
          <a:p>
            <a:pPr marL="0" indent="0" algn="ctr">
              <a:buNone/>
            </a:pPr>
            <a:r>
              <a:rPr lang="en-US" sz="1250" dirty="0">
                <a:solidFill>
                  <a:srgbClr val="25313D"/>
                </a:solidFill>
                <a:latin typeface="Times New Roman" pitchFamily="34" charset="0"/>
                <a:ea typeface="Times New Roman" pitchFamily="34" charset="-122"/>
                <a:cs typeface="Times New Roman" pitchFamily="34" charset="-120"/>
              </a:rPr>
              <a:t>&amp; record handover</a:t>
            </a:r>
            <a:endParaRPr lang="en-US" sz="1250" dirty="0"/>
          </a:p>
        </p:txBody>
      </p:sp>
      <p:sp>
        <p:nvSpPr>
          <p:cNvPr id="25" name="Text 23"/>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26" name="Text 24"/>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Proposed Solution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FEATURES</a:t>
            </a:r>
            <a:endParaRPr lang="en-US" sz="3000" dirty="0"/>
          </a:p>
        </p:txBody>
      </p:sp>
      <p:sp>
        <p:nvSpPr>
          <p:cNvPr id="4" name="Shape 2"/>
          <p:cNvSpPr/>
          <p:nvPr/>
        </p:nvSpPr>
        <p:spPr>
          <a:xfrm>
            <a:off x="548640" y="1417320"/>
            <a:ext cx="5387188" cy="1051560"/>
          </a:xfrm>
          <a:prstGeom prst="roundRect">
            <a:avLst>
              <a:gd name="adj" fmla="val 6957"/>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5" name="Shape 3"/>
          <p:cNvSpPr/>
          <p:nvPr/>
        </p:nvSpPr>
        <p:spPr>
          <a:xfrm>
            <a:off x="713232" y="1581912"/>
            <a:ext cx="310896" cy="310896"/>
          </a:xfrm>
          <a:prstGeom prst="ellipse">
            <a:avLst/>
          </a:prstGeom>
          <a:solidFill>
            <a:srgbClr val="1E3A5F"/>
          </a:solidFill>
          <a:ln/>
        </p:spPr>
      </p:sp>
      <p:sp>
        <p:nvSpPr>
          <p:cNvPr id="6" name="Text 4"/>
          <p:cNvSpPr/>
          <p:nvPr/>
        </p:nvSpPr>
        <p:spPr>
          <a:xfrm>
            <a:off x="713232" y="15819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1</a:t>
            </a:r>
            <a:endParaRPr lang="en-US" sz="1200" dirty="0"/>
          </a:p>
        </p:txBody>
      </p:sp>
      <p:sp>
        <p:nvSpPr>
          <p:cNvPr id="7" name="Text 5"/>
          <p:cNvSpPr/>
          <p:nvPr/>
        </p:nvSpPr>
        <p:spPr>
          <a:xfrm>
            <a:off x="1143000" y="1508760"/>
            <a:ext cx="4655668"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Role-Restricted Found-Item Logging</a:t>
            </a:r>
            <a:endParaRPr lang="en-US" sz="1300" dirty="0"/>
          </a:p>
        </p:txBody>
      </p:sp>
      <p:sp>
        <p:nvSpPr>
          <p:cNvPr id="8" name="Text 6"/>
          <p:cNvSpPr/>
          <p:nvPr/>
        </p:nvSpPr>
        <p:spPr>
          <a:xfrm>
            <a:off x="1143000" y="1801368"/>
            <a:ext cx="4655668" cy="594360"/>
          </a:xfrm>
          <a:prstGeom prst="rect">
            <a:avLst/>
          </a:prstGeom>
          <a:noFill/>
          <a:ln/>
        </p:spPr>
        <p:txBody>
          <a:bodyPr wrap="square" lIns="0" tIns="0" rIns="0" bIns="0" rtlCol="0" anchor="ctr"/>
          <a:lstStyle/>
          <a:p>
            <a:pPr marL="0" indent="0" algn="just">
              <a:lnSpc>
                <a:spcPct val="105000"/>
              </a:lnSpc>
              <a:buNone/>
            </a:pPr>
            <a:r>
              <a:rPr lang="en-US" sz="1050" dirty="0">
                <a:solidFill>
                  <a:srgbClr val="5B6B79"/>
                </a:solidFill>
                <a:latin typeface="Times New Roman" pitchFamily="34" charset="0"/>
                <a:ea typeface="Times New Roman" pitchFamily="34" charset="-122"/>
                <a:cs typeface="Times New Roman" pitchFamily="34" charset="-120"/>
              </a:rPr>
              <a:t>Only Staff/Admin accounts can log a found item, matching how items are actually handed in physically.</a:t>
            </a:r>
            <a:endParaRPr lang="en-US" sz="1050" dirty="0"/>
          </a:p>
        </p:txBody>
      </p:sp>
      <p:sp>
        <p:nvSpPr>
          <p:cNvPr id="9" name="Shape 7"/>
          <p:cNvSpPr/>
          <p:nvPr/>
        </p:nvSpPr>
        <p:spPr>
          <a:xfrm>
            <a:off x="6255868" y="1417320"/>
            <a:ext cx="5387188" cy="1051560"/>
          </a:xfrm>
          <a:prstGeom prst="roundRect">
            <a:avLst>
              <a:gd name="adj" fmla="val 6957"/>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10" name="Shape 8"/>
          <p:cNvSpPr/>
          <p:nvPr/>
        </p:nvSpPr>
        <p:spPr>
          <a:xfrm>
            <a:off x="6420460" y="1581912"/>
            <a:ext cx="310896" cy="310896"/>
          </a:xfrm>
          <a:prstGeom prst="ellipse">
            <a:avLst/>
          </a:prstGeom>
          <a:solidFill>
            <a:srgbClr val="1E3A5F"/>
          </a:solidFill>
          <a:ln/>
        </p:spPr>
      </p:sp>
      <p:sp>
        <p:nvSpPr>
          <p:cNvPr id="11" name="Text 9"/>
          <p:cNvSpPr/>
          <p:nvPr/>
        </p:nvSpPr>
        <p:spPr>
          <a:xfrm>
            <a:off x="6420460" y="15819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2</a:t>
            </a:r>
            <a:endParaRPr lang="en-US" sz="1200" dirty="0"/>
          </a:p>
        </p:txBody>
      </p:sp>
      <p:sp>
        <p:nvSpPr>
          <p:cNvPr id="12" name="Text 10"/>
          <p:cNvSpPr/>
          <p:nvPr/>
        </p:nvSpPr>
        <p:spPr>
          <a:xfrm>
            <a:off x="6850228" y="1508760"/>
            <a:ext cx="4655668"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Custody Tracking</a:t>
            </a:r>
            <a:endParaRPr lang="en-US" sz="1300" dirty="0"/>
          </a:p>
        </p:txBody>
      </p:sp>
      <p:sp>
        <p:nvSpPr>
          <p:cNvPr id="13" name="Text 11"/>
          <p:cNvSpPr/>
          <p:nvPr/>
        </p:nvSpPr>
        <p:spPr>
          <a:xfrm>
            <a:off x="6850228" y="1801368"/>
            <a:ext cx="4655668" cy="594360"/>
          </a:xfrm>
          <a:prstGeom prst="rect">
            <a:avLst/>
          </a:prstGeom>
          <a:noFill/>
          <a:ln/>
        </p:spPr>
        <p:txBody>
          <a:bodyPr wrap="square" lIns="0" tIns="0" rIns="0" bIns="0" rtlCol="0" anchor="ctr"/>
          <a:lstStyle/>
          <a:p>
            <a:pPr marL="0" indent="0" algn="just">
              <a:lnSpc>
                <a:spcPct val="105000"/>
              </a:lnSpc>
              <a:buNone/>
            </a:pPr>
            <a:r>
              <a:rPr lang="en-US" sz="1050" dirty="0">
                <a:solidFill>
                  <a:srgbClr val="5B6B79"/>
                </a:solidFill>
                <a:latin typeface="Times New Roman" pitchFamily="34" charset="0"/>
                <a:ea typeface="Times New Roman" pitchFamily="34" charset="-122"/>
                <a:cs typeface="Times New Roman" pitchFamily="34" charset="-120"/>
              </a:rPr>
              <a:t>Staff/Admin can record and update exactly where a found item is currently being kept.</a:t>
            </a:r>
            <a:endParaRPr lang="en-US" sz="1050" dirty="0"/>
          </a:p>
        </p:txBody>
      </p:sp>
      <p:sp>
        <p:nvSpPr>
          <p:cNvPr id="14" name="Shape 12"/>
          <p:cNvSpPr/>
          <p:nvPr/>
        </p:nvSpPr>
        <p:spPr>
          <a:xfrm>
            <a:off x="548640" y="2606040"/>
            <a:ext cx="5387188" cy="1051560"/>
          </a:xfrm>
          <a:prstGeom prst="roundRect">
            <a:avLst>
              <a:gd name="adj" fmla="val 6957"/>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15" name="Shape 13"/>
          <p:cNvSpPr/>
          <p:nvPr/>
        </p:nvSpPr>
        <p:spPr>
          <a:xfrm>
            <a:off x="713232" y="2770632"/>
            <a:ext cx="310896" cy="310896"/>
          </a:xfrm>
          <a:prstGeom prst="ellipse">
            <a:avLst/>
          </a:prstGeom>
          <a:solidFill>
            <a:srgbClr val="1E3A5F"/>
          </a:solidFill>
          <a:ln/>
        </p:spPr>
      </p:sp>
      <p:sp>
        <p:nvSpPr>
          <p:cNvPr id="16" name="Text 14"/>
          <p:cNvSpPr/>
          <p:nvPr/>
        </p:nvSpPr>
        <p:spPr>
          <a:xfrm>
            <a:off x="713232" y="277063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3</a:t>
            </a:r>
            <a:endParaRPr lang="en-US" sz="1200" dirty="0"/>
          </a:p>
        </p:txBody>
      </p:sp>
      <p:sp>
        <p:nvSpPr>
          <p:cNvPr id="17" name="Text 15"/>
          <p:cNvSpPr/>
          <p:nvPr/>
        </p:nvSpPr>
        <p:spPr>
          <a:xfrm>
            <a:off x="1143000" y="2697480"/>
            <a:ext cx="4655668"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In-Person Recipient Verification</a:t>
            </a:r>
            <a:endParaRPr lang="en-US" sz="1300" dirty="0"/>
          </a:p>
        </p:txBody>
      </p:sp>
      <p:sp>
        <p:nvSpPr>
          <p:cNvPr id="18" name="Text 16"/>
          <p:cNvSpPr/>
          <p:nvPr/>
        </p:nvSpPr>
        <p:spPr>
          <a:xfrm>
            <a:off x="1143000" y="2990088"/>
            <a:ext cx="4655668" cy="594360"/>
          </a:xfrm>
          <a:prstGeom prst="rect">
            <a:avLst/>
          </a:prstGeom>
          <a:noFill/>
          <a:ln/>
        </p:spPr>
        <p:txBody>
          <a:bodyPr wrap="square" lIns="0" tIns="0" rIns="0" bIns="0" rtlCol="0" anchor="ctr"/>
          <a:lstStyle/>
          <a:p>
            <a:pPr marL="0" indent="0" algn="just">
              <a:lnSpc>
                <a:spcPct val="105000"/>
              </a:lnSpc>
              <a:buNone/>
            </a:pPr>
            <a:r>
              <a:rPr lang="en-US" sz="1050" dirty="0">
                <a:solidFill>
                  <a:srgbClr val="5B6B79"/>
                </a:solidFill>
                <a:latin typeface="Times New Roman" pitchFamily="34" charset="0"/>
                <a:ea typeface="Times New Roman" pitchFamily="34" charset="-122"/>
                <a:cs typeface="Times New Roman" pitchFamily="34" charset="-120"/>
              </a:rPr>
              <a:t>When an item is handed over, the recipient’s name, contact number and enrollment number are recorded.</a:t>
            </a:r>
            <a:endParaRPr lang="en-US" sz="1050" dirty="0"/>
          </a:p>
        </p:txBody>
      </p:sp>
      <p:sp>
        <p:nvSpPr>
          <p:cNvPr id="19" name="Shape 17"/>
          <p:cNvSpPr/>
          <p:nvPr/>
        </p:nvSpPr>
        <p:spPr>
          <a:xfrm>
            <a:off x="6255868" y="2606040"/>
            <a:ext cx="5387188" cy="1051560"/>
          </a:xfrm>
          <a:prstGeom prst="roundRect">
            <a:avLst>
              <a:gd name="adj" fmla="val 6957"/>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20" name="Shape 18"/>
          <p:cNvSpPr/>
          <p:nvPr/>
        </p:nvSpPr>
        <p:spPr>
          <a:xfrm>
            <a:off x="6420460" y="2770632"/>
            <a:ext cx="310896" cy="310896"/>
          </a:xfrm>
          <a:prstGeom prst="ellipse">
            <a:avLst/>
          </a:prstGeom>
          <a:solidFill>
            <a:srgbClr val="1E3A5F"/>
          </a:solidFill>
          <a:ln/>
        </p:spPr>
      </p:sp>
      <p:sp>
        <p:nvSpPr>
          <p:cNvPr id="21" name="Text 19"/>
          <p:cNvSpPr/>
          <p:nvPr/>
        </p:nvSpPr>
        <p:spPr>
          <a:xfrm>
            <a:off x="6420460" y="277063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4</a:t>
            </a:r>
            <a:endParaRPr lang="en-US" sz="1200" dirty="0"/>
          </a:p>
        </p:txBody>
      </p:sp>
      <p:sp>
        <p:nvSpPr>
          <p:cNvPr id="22" name="Text 20"/>
          <p:cNvSpPr/>
          <p:nvPr/>
        </p:nvSpPr>
        <p:spPr>
          <a:xfrm>
            <a:off x="6850228" y="2697480"/>
            <a:ext cx="4655668"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Multi-Filter Search</a:t>
            </a:r>
            <a:endParaRPr lang="en-US" sz="1300" dirty="0"/>
          </a:p>
        </p:txBody>
      </p:sp>
      <p:sp>
        <p:nvSpPr>
          <p:cNvPr id="23" name="Text 21"/>
          <p:cNvSpPr/>
          <p:nvPr/>
        </p:nvSpPr>
        <p:spPr>
          <a:xfrm>
            <a:off x="6850228" y="2990088"/>
            <a:ext cx="4655668" cy="594360"/>
          </a:xfrm>
          <a:prstGeom prst="rect">
            <a:avLst/>
          </a:prstGeom>
          <a:noFill/>
          <a:ln/>
        </p:spPr>
        <p:txBody>
          <a:bodyPr wrap="square" lIns="0" tIns="0" rIns="0" bIns="0" rtlCol="0" anchor="ctr"/>
          <a:lstStyle/>
          <a:p>
            <a:pPr marL="0" indent="0" algn="just">
              <a:lnSpc>
                <a:spcPct val="105000"/>
              </a:lnSpc>
              <a:buNone/>
            </a:pPr>
            <a:r>
              <a:rPr lang="en-US" sz="1050" dirty="0">
                <a:solidFill>
                  <a:srgbClr val="5B6B79"/>
                </a:solidFill>
                <a:latin typeface="Times New Roman" pitchFamily="34" charset="0"/>
                <a:ea typeface="Times New Roman" pitchFamily="34" charset="-122"/>
                <a:cs typeface="Times New Roman" pitchFamily="34" charset="-120"/>
              </a:rPr>
              <a:t>Students can filter found items by keyword, category, date and location.</a:t>
            </a:r>
            <a:endParaRPr lang="en-US" sz="1050" dirty="0"/>
          </a:p>
        </p:txBody>
      </p:sp>
      <p:sp>
        <p:nvSpPr>
          <p:cNvPr id="24" name="Shape 22"/>
          <p:cNvSpPr/>
          <p:nvPr/>
        </p:nvSpPr>
        <p:spPr>
          <a:xfrm>
            <a:off x="548640" y="3794760"/>
            <a:ext cx="5387188" cy="1051560"/>
          </a:xfrm>
          <a:prstGeom prst="roundRect">
            <a:avLst>
              <a:gd name="adj" fmla="val 6957"/>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25" name="Shape 23"/>
          <p:cNvSpPr/>
          <p:nvPr/>
        </p:nvSpPr>
        <p:spPr>
          <a:xfrm>
            <a:off x="713232" y="3959352"/>
            <a:ext cx="310896" cy="310896"/>
          </a:xfrm>
          <a:prstGeom prst="ellipse">
            <a:avLst/>
          </a:prstGeom>
          <a:solidFill>
            <a:srgbClr val="1E3A5F"/>
          </a:solidFill>
          <a:ln/>
        </p:spPr>
      </p:sp>
      <p:sp>
        <p:nvSpPr>
          <p:cNvPr id="26" name="Text 24"/>
          <p:cNvSpPr/>
          <p:nvPr/>
        </p:nvSpPr>
        <p:spPr>
          <a:xfrm>
            <a:off x="713232" y="39593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5</a:t>
            </a:r>
            <a:endParaRPr lang="en-US" sz="1200" dirty="0"/>
          </a:p>
        </p:txBody>
      </p:sp>
      <p:sp>
        <p:nvSpPr>
          <p:cNvPr id="27" name="Text 25"/>
          <p:cNvSpPr/>
          <p:nvPr/>
        </p:nvSpPr>
        <p:spPr>
          <a:xfrm>
            <a:off x="1143000" y="3886200"/>
            <a:ext cx="4655668"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Status Tracking</a:t>
            </a:r>
            <a:endParaRPr lang="en-US" sz="1300" dirty="0"/>
          </a:p>
        </p:txBody>
      </p:sp>
      <p:sp>
        <p:nvSpPr>
          <p:cNvPr id="28" name="Text 26"/>
          <p:cNvSpPr/>
          <p:nvPr/>
        </p:nvSpPr>
        <p:spPr>
          <a:xfrm>
            <a:off x="1143000" y="4178808"/>
            <a:ext cx="4655668" cy="594360"/>
          </a:xfrm>
          <a:prstGeom prst="rect">
            <a:avLst/>
          </a:prstGeom>
          <a:noFill/>
          <a:ln/>
        </p:spPr>
        <p:txBody>
          <a:bodyPr wrap="square" lIns="0" tIns="0" rIns="0" bIns="0" rtlCol="0" anchor="ctr"/>
          <a:lstStyle/>
          <a:p>
            <a:pPr marL="0" indent="0" algn="just">
              <a:lnSpc>
                <a:spcPct val="105000"/>
              </a:lnSpc>
              <a:buNone/>
            </a:pPr>
            <a:r>
              <a:rPr lang="en-US" sz="1050" dirty="0">
                <a:solidFill>
                  <a:srgbClr val="5B6B79"/>
                </a:solidFill>
                <a:latin typeface="Times New Roman" pitchFamily="34" charset="0"/>
                <a:ea typeface="Times New Roman" pitchFamily="34" charset="-122"/>
                <a:cs typeface="Times New Roman" pitchFamily="34" charset="-120"/>
              </a:rPr>
              <a:t>Every item shows a clear </a:t>
            </a:r>
            <a:r>
              <a:rPr lang="en-US" sz="1050">
                <a:solidFill>
                  <a:srgbClr val="5B6B79"/>
                </a:solidFill>
                <a:latin typeface="Times New Roman" pitchFamily="34" charset="0"/>
                <a:ea typeface="Times New Roman" pitchFamily="34" charset="-122"/>
                <a:cs typeface="Times New Roman" pitchFamily="34" charset="-120"/>
              </a:rPr>
              <a:t>status - </a:t>
            </a:r>
            <a:r>
              <a:rPr lang="en-US" sz="1050" dirty="0">
                <a:solidFill>
                  <a:srgbClr val="5B6B79"/>
                </a:solidFill>
                <a:latin typeface="Times New Roman" pitchFamily="34" charset="0"/>
                <a:ea typeface="Times New Roman" pitchFamily="34" charset="-122"/>
                <a:cs typeface="Times New Roman" pitchFamily="34" charset="-120"/>
              </a:rPr>
              <a:t>Pending, Active, Claimed or Resolved.</a:t>
            </a:r>
            <a:endParaRPr lang="en-US" sz="1050" dirty="0"/>
          </a:p>
        </p:txBody>
      </p:sp>
      <p:sp>
        <p:nvSpPr>
          <p:cNvPr id="29" name="Shape 27"/>
          <p:cNvSpPr/>
          <p:nvPr/>
        </p:nvSpPr>
        <p:spPr>
          <a:xfrm>
            <a:off x="6255868" y="3794760"/>
            <a:ext cx="5387188" cy="1051560"/>
          </a:xfrm>
          <a:prstGeom prst="roundRect">
            <a:avLst>
              <a:gd name="adj" fmla="val 6957"/>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30" name="Shape 28"/>
          <p:cNvSpPr/>
          <p:nvPr/>
        </p:nvSpPr>
        <p:spPr>
          <a:xfrm>
            <a:off x="6420460" y="3959352"/>
            <a:ext cx="310896" cy="310896"/>
          </a:xfrm>
          <a:prstGeom prst="ellipse">
            <a:avLst/>
          </a:prstGeom>
          <a:solidFill>
            <a:srgbClr val="1E3A5F"/>
          </a:solidFill>
          <a:ln/>
        </p:spPr>
      </p:sp>
      <p:sp>
        <p:nvSpPr>
          <p:cNvPr id="31" name="Text 29"/>
          <p:cNvSpPr/>
          <p:nvPr/>
        </p:nvSpPr>
        <p:spPr>
          <a:xfrm>
            <a:off x="6420460" y="39593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6</a:t>
            </a:r>
            <a:endParaRPr lang="en-US" sz="1200" dirty="0"/>
          </a:p>
        </p:txBody>
      </p:sp>
      <p:sp>
        <p:nvSpPr>
          <p:cNvPr id="32" name="Text 30"/>
          <p:cNvSpPr/>
          <p:nvPr/>
        </p:nvSpPr>
        <p:spPr>
          <a:xfrm>
            <a:off x="6850228" y="3886200"/>
            <a:ext cx="4655668"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In-App Notifications</a:t>
            </a:r>
            <a:endParaRPr lang="en-US" sz="1300" dirty="0"/>
          </a:p>
        </p:txBody>
      </p:sp>
      <p:sp>
        <p:nvSpPr>
          <p:cNvPr id="33" name="Text 31"/>
          <p:cNvSpPr/>
          <p:nvPr/>
        </p:nvSpPr>
        <p:spPr>
          <a:xfrm>
            <a:off x="6850228" y="4178808"/>
            <a:ext cx="4655668" cy="594360"/>
          </a:xfrm>
          <a:prstGeom prst="rect">
            <a:avLst/>
          </a:prstGeom>
          <a:noFill/>
          <a:ln/>
        </p:spPr>
        <p:txBody>
          <a:bodyPr wrap="square" lIns="0" tIns="0" rIns="0" bIns="0" rtlCol="0" anchor="ctr"/>
          <a:lstStyle/>
          <a:p>
            <a:pPr marL="0" indent="0" algn="just">
              <a:lnSpc>
                <a:spcPct val="105000"/>
              </a:lnSpc>
              <a:buNone/>
            </a:pPr>
            <a:r>
              <a:rPr lang="en-US" sz="1050" dirty="0">
                <a:solidFill>
                  <a:srgbClr val="5B6B79"/>
                </a:solidFill>
                <a:latin typeface="Times New Roman" pitchFamily="34" charset="0"/>
                <a:ea typeface="Times New Roman" pitchFamily="34" charset="-122"/>
                <a:cs typeface="Times New Roman" pitchFamily="34" charset="-120"/>
              </a:rPr>
              <a:t>Users are notified automatically whenever something relevant to them changes.</a:t>
            </a:r>
            <a:endParaRPr lang="en-US" sz="1050" dirty="0"/>
          </a:p>
        </p:txBody>
      </p:sp>
      <p:sp>
        <p:nvSpPr>
          <p:cNvPr id="34" name="Shape 32"/>
          <p:cNvSpPr/>
          <p:nvPr/>
        </p:nvSpPr>
        <p:spPr>
          <a:xfrm>
            <a:off x="548640" y="4983480"/>
            <a:ext cx="5387188" cy="1051560"/>
          </a:xfrm>
          <a:prstGeom prst="roundRect">
            <a:avLst>
              <a:gd name="adj" fmla="val 6957"/>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35" name="Shape 33"/>
          <p:cNvSpPr/>
          <p:nvPr/>
        </p:nvSpPr>
        <p:spPr>
          <a:xfrm>
            <a:off x="713232" y="5148072"/>
            <a:ext cx="310896" cy="310896"/>
          </a:xfrm>
          <a:prstGeom prst="ellipse">
            <a:avLst/>
          </a:prstGeom>
          <a:solidFill>
            <a:srgbClr val="1E3A5F"/>
          </a:solidFill>
          <a:ln/>
        </p:spPr>
      </p:sp>
      <p:sp>
        <p:nvSpPr>
          <p:cNvPr id="36" name="Text 34"/>
          <p:cNvSpPr/>
          <p:nvPr/>
        </p:nvSpPr>
        <p:spPr>
          <a:xfrm>
            <a:off x="713232" y="51480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7</a:t>
            </a:r>
            <a:endParaRPr lang="en-US" sz="1200" dirty="0"/>
          </a:p>
        </p:txBody>
      </p:sp>
      <p:sp>
        <p:nvSpPr>
          <p:cNvPr id="37" name="Text 35"/>
          <p:cNvSpPr/>
          <p:nvPr/>
        </p:nvSpPr>
        <p:spPr>
          <a:xfrm>
            <a:off x="1143000" y="5074920"/>
            <a:ext cx="4655668"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Admin Dashboard</a:t>
            </a:r>
            <a:endParaRPr lang="en-US" sz="1300" dirty="0"/>
          </a:p>
        </p:txBody>
      </p:sp>
      <p:sp>
        <p:nvSpPr>
          <p:cNvPr id="38" name="Text 36"/>
          <p:cNvSpPr/>
          <p:nvPr/>
        </p:nvSpPr>
        <p:spPr>
          <a:xfrm>
            <a:off x="1143000" y="5367528"/>
            <a:ext cx="4655668" cy="594360"/>
          </a:xfrm>
          <a:prstGeom prst="rect">
            <a:avLst/>
          </a:prstGeom>
          <a:noFill/>
          <a:ln/>
        </p:spPr>
        <p:txBody>
          <a:bodyPr wrap="square" lIns="0" tIns="0" rIns="0" bIns="0" rtlCol="0" anchor="ctr"/>
          <a:lstStyle/>
          <a:p>
            <a:pPr marL="0" indent="0" algn="just">
              <a:lnSpc>
                <a:spcPct val="105000"/>
              </a:lnSpc>
              <a:buNone/>
            </a:pPr>
            <a:r>
              <a:rPr lang="en-US" sz="1050" dirty="0">
                <a:solidFill>
                  <a:srgbClr val="5B6B79"/>
                </a:solidFill>
                <a:latin typeface="Times New Roman" pitchFamily="34" charset="0"/>
                <a:ea typeface="Times New Roman" pitchFamily="34" charset="-122"/>
                <a:cs typeface="Times New Roman" pitchFamily="34" charset="-120"/>
              </a:rPr>
              <a:t>A single screen summarising pending approvals, pending handovers, resolved items and registered users.</a:t>
            </a:r>
            <a:endParaRPr lang="en-US" sz="1050" dirty="0"/>
          </a:p>
        </p:txBody>
      </p:sp>
      <p:sp>
        <p:nvSpPr>
          <p:cNvPr id="39" name="Shape 37"/>
          <p:cNvSpPr/>
          <p:nvPr/>
        </p:nvSpPr>
        <p:spPr>
          <a:xfrm>
            <a:off x="6247847" y="4983480"/>
            <a:ext cx="5387188" cy="1051560"/>
          </a:xfrm>
          <a:prstGeom prst="roundRect">
            <a:avLst>
              <a:gd name="adj" fmla="val 6957"/>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txBody>
          <a:bodyPr/>
          <a:lstStyle/>
          <a:p>
            <a:endParaRPr lang="en-IN" dirty="0"/>
          </a:p>
        </p:txBody>
      </p:sp>
      <p:sp>
        <p:nvSpPr>
          <p:cNvPr id="40" name="Shape 38"/>
          <p:cNvSpPr/>
          <p:nvPr/>
        </p:nvSpPr>
        <p:spPr>
          <a:xfrm>
            <a:off x="6420460" y="5148072"/>
            <a:ext cx="310896" cy="310896"/>
          </a:xfrm>
          <a:prstGeom prst="ellipse">
            <a:avLst/>
          </a:prstGeom>
          <a:solidFill>
            <a:srgbClr val="1E3A5F"/>
          </a:solidFill>
          <a:ln/>
        </p:spPr>
      </p:sp>
      <p:sp>
        <p:nvSpPr>
          <p:cNvPr id="41" name="Text 39"/>
          <p:cNvSpPr/>
          <p:nvPr/>
        </p:nvSpPr>
        <p:spPr>
          <a:xfrm>
            <a:off x="6420460" y="51480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8</a:t>
            </a:r>
            <a:endParaRPr lang="en-US" sz="1200" dirty="0"/>
          </a:p>
        </p:txBody>
      </p:sp>
      <p:sp>
        <p:nvSpPr>
          <p:cNvPr id="42" name="Text 40"/>
          <p:cNvSpPr/>
          <p:nvPr/>
        </p:nvSpPr>
        <p:spPr>
          <a:xfrm>
            <a:off x="6850228" y="5074920"/>
            <a:ext cx="4655668"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Role-Based Access Control</a:t>
            </a:r>
            <a:endParaRPr lang="en-US" sz="1300" dirty="0"/>
          </a:p>
        </p:txBody>
      </p:sp>
      <p:sp>
        <p:nvSpPr>
          <p:cNvPr id="43" name="Text 41"/>
          <p:cNvSpPr/>
          <p:nvPr/>
        </p:nvSpPr>
        <p:spPr>
          <a:xfrm>
            <a:off x="6850228" y="5367528"/>
            <a:ext cx="4655668" cy="594360"/>
          </a:xfrm>
          <a:prstGeom prst="rect">
            <a:avLst/>
          </a:prstGeom>
          <a:noFill/>
          <a:ln/>
        </p:spPr>
        <p:txBody>
          <a:bodyPr wrap="square" lIns="0" tIns="0" rIns="0" bIns="0" rtlCol="0" anchor="ctr"/>
          <a:lstStyle/>
          <a:p>
            <a:pPr marL="0" indent="0" algn="just">
              <a:lnSpc>
                <a:spcPct val="105000"/>
              </a:lnSpc>
              <a:buNone/>
            </a:pPr>
            <a:r>
              <a:rPr lang="en-US" sz="1050" dirty="0">
                <a:solidFill>
                  <a:srgbClr val="5B6B79"/>
                </a:solidFill>
                <a:latin typeface="Times New Roman" pitchFamily="34" charset="0"/>
                <a:ea typeface="Times New Roman" pitchFamily="34" charset="-122"/>
                <a:cs typeface="Times New Roman" pitchFamily="34" charset="-120"/>
              </a:rPr>
              <a:t>A permission matrix decides exactly which functions each of Student, Staff and Admin can use.</a:t>
            </a:r>
            <a:endParaRPr lang="en-US" sz="1050" dirty="0"/>
          </a:p>
        </p:txBody>
      </p:sp>
      <p:sp>
        <p:nvSpPr>
          <p:cNvPr id="44" name="Text 42"/>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45" name="Text 43"/>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Features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SYSTEM REQUIREMENTS</a:t>
            </a:r>
            <a:endParaRPr lang="en-US" sz="3000" dirty="0"/>
          </a:p>
        </p:txBody>
      </p:sp>
      <p:sp>
        <p:nvSpPr>
          <p:cNvPr id="4" name="Shape 2"/>
          <p:cNvSpPr/>
          <p:nvPr/>
        </p:nvSpPr>
        <p:spPr>
          <a:xfrm>
            <a:off x="548640" y="1417320"/>
            <a:ext cx="5364328" cy="4572000"/>
          </a:xfrm>
          <a:prstGeom prst="roundRect">
            <a:avLst>
              <a:gd name="adj" fmla="val 1600"/>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5" name="Text 3"/>
          <p:cNvSpPr/>
          <p:nvPr/>
        </p:nvSpPr>
        <p:spPr>
          <a:xfrm>
            <a:off x="822960" y="1600200"/>
            <a:ext cx="4815688" cy="320040"/>
          </a:xfrm>
          <a:prstGeom prst="rect">
            <a:avLst/>
          </a:prstGeom>
          <a:noFill/>
          <a:ln/>
        </p:spPr>
        <p:txBody>
          <a:bodyPr wrap="square" lIns="0" tIns="0" rIns="0" bIns="0" rtlCol="0" anchor="ctr"/>
          <a:lstStyle/>
          <a:p>
            <a:pPr marL="0" indent="0">
              <a:buNone/>
            </a:pPr>
            <a:r>
              <a:rPr lang="en-US" sz="1500" b="1" dirty="0">
                <a:solidFill>
                  <a:srgbClr val="1E3A5F"/>
                </a:solidFill>
                <a:latin typeface="Times New Roman" pitchFamily="34" charset="0"/>
                <a:ea typeface="Times New Roman" pitchFamily="34" charset="-122"/>
                <a:cs typeface="Times New Roman" pitchFamily="34" charset="-120"/>
              </a:rPr>
              <a:t>SOFTWARE REQUIREMENTS</a:t>
            </a:r>
            <a:endParaRPr lang="en-US" sz="1500" dirty="0"/>
          </a:p>
        </p:txBody>
      </p:sp>
      <p:sp>
        <p:nvSpPr>
          <p:cNvPr id="6" name="Text 4"/>
          <p:cNvSpPr/>
          <p:nvPr/>
        </p:nvSpPr>
        <p:spPr>
          <a:xfrm>
            <a:off x="822960" y="2057400"/>
            <a:ext cx="4815688" cy="374904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Operating System: Windows 10/11, Linux or macOS (development)</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Web Server: Apache (via XAMPP)</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Server-Side Language: PHP</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Database: MySQL, managed via phpMyAdmin</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Front-End: HTML5, CSS3, Bootstrap 5, JavaScript / jQuery</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Browser: Any modern </a:t>
            </a:r>
            <a:r>
              <a:rPr lang="en-US" sz="1250">
                <a:solidFill>
                  <a:srgbClr val="25313D"/>
                </a:solidFill>
                <a:latin typeface="Times New Roman" pitchFamily="34" charset="0"/>
                <a:ea typeface="Times New Roman" pitchFamily="34" charset="-122"/>
                <a:cs typeface="Times New Roman" pitchFamily="34" charset="-120"/>
              </a:rPr>
              <a:t>browser - </a:t>
            </a:r>
            <a:r>
              <a:rPr lang="en-US" sz="1250" dirty="0">
                <a:solidFill>
                  <a:srgbClr val="25313D"/>
                </a:solidFill>
                <a:latin typeface="Times New Roman" pitchFamily="34" charset="0"/>
                <a:ea typeface="Times New Roman" pitchFamily="34" charset="-122"/>
                <a:cs typeface="Times New Roman" pitchFamily="34" charset="-120"/>
              </a:rPr>
              <a:t>Chrome, Firefox or Edge</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Design Tool: Figma (UI/UX prototyping)</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Version Control: Git &amp; GitHub</a:t>
            </a:r>
            <a:endParaRPr lang="en-US" sz="1250" dirty="0"/>
          </a:p>
        </p:txBody>
      </p:sp>
      <p:sp>
        <p:nvSpPr>
          <p:cNvPr id="7" name="Shape 5"/>
          <p:cNvSpPr/>
          <p:nvPr/>
        </p:nvSpPr>
        <p:spPr>
          <a:xfrm>
            <a:off x="6278728" y="1417320"/>
            <a:ext cx="5364328" cy="4572000"/>
          </a:xfrm>
          <a:prstGeom prst="roundRect">
            <a:avLst>
              <a:gd name="adj" fmla="val 1600"/>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8" name="Text 6"/>
          <p:cNvSpPr/>
          <p:nvPr/>
        </p:nvSpPr>
        <p:spPr>
          <a:xfrm>
            <a:off x="6553048" y="1600200"/>
            <a:ext cx="4815688" cy="320040"/>
          </a:xfrm>
          <a:prstGeom prst="rect">
            <a:avLst/>
          </a:prstGeom>
          <a:noFill/>
          <a:ln/>
        </p:spPr>
        <p:txBody>
          <a:bodyPr wrap="square" lIns="0" tIns="0" rIns="0" bIns="0" rtlCol="0" anchor="ctr"/>
          <a:lstStyle/>
          <a:p>
            <a:pPr marL="0" indent="0">
              <a:buNone/>
            </a:pPr>
            <a:r>
              <a:rPr lang="en-US" sz="1500" b="1" dirty="0">
                <a:solidFill>
                  <a:srgbClr val="1E3A5F"/>
                </a:solidFill>
                <a:latin typeface="Times New Roman" pitchFamily="34" charset="0"/>
                <a:ea typeface="Times New Roman" pitchFamily="34" charset="-122"/>
                <a:cs typeface="Times New Roman" pitchFamily="34" charset="-120"/>
              </a:rPr>
              <a:t>HARDWARE REQUIREMENTS</a:t>
            </a:r>
            <a:endParaRPr lang="en-US" sz="1500" dirty="0"/>
          </a:p>
        </p:txBody>
      </p:sp>
      <p:sp>
        <p:nvSpPr>
          <p:cNvPr id="9" name="Text 7"/>
          <p:cNvSpPr/>
          <p:nvPr/>
        </p:nvSpPr>
        <p:spPr>
          <a:xfrm>
            <a:off x="6553048" y="2057400"/>
            <a:ext cx="4815688" cy="374904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Processor: Dual-core 2.0 GHz or higher (development machine)</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RAM: 4 GB minimum, 8 GB recommended</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Storage: 5 GB free disk space for local server and database</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Internet Connection: Required for GitHub, Figma and testing</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Client Side: Any device with a modern web </a:t>
            </a:r>
            <a:r>
              <a:rPr lang="en-US" sz="1250">
                <a:solidFill>
                  <a:srgbClr val="25313D"/>
                </a:solidFill>
                <a:latin typeface="Times New Roman" pitchFamily="34" charset="0"/>
                <a:ea typeface="Times New Roman" pitchFamily="34" charset="-122"/>
                <a:cs typeface="Times New Roman" pitchFamily="34" charset="-120"/>
              </a:rPr>
              <a:t>browser - </a:t>
            </a:r>
            <a:r>
              <a:rPr lang="en-US" sz="1250" dirty="0">
                <a:solidFill>
                  <a:srgbClr val="25313D"/>
                </a:solidFill>
                <a:latin typeface="Times New Roman" pitchFamily="34" charset="0"/>
                <a:ea typeface="Times New Roman" pitchFamily="34" charset="-122"/>
                <a:cs typeface="Times New Roman" pitchFamily="34" charset="-120"/>
              </a:rPr>
              <a:t>desktop, laptop, tablet or smartphone</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Server Side (deployment): Standard web hosting supporting PHP and MySQL</a:t>
            </a:r>
            <a:endParaRPr lang="en-US" sz="1250" dirty="0"/>
          </a:p>
        </p:txBody>
      </p:sp>
      <p:sp>
        <p:nvSpPr>
          <p:cNvPr id="10" name="Text 8"/>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11" name="Text 9"/>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System Requirements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TECHNOLOGY STACK</a:t>
            </a:r>
            <a:endParaRPr lang="en-US" sz="3000" dirty="0"/>
          </a:p>
        </p:txBody>
      </p:sp>
      <p:sp>
        <p:nvSpPr>
          <p:cNvPr id="4" name="Shape 2"/>
          <p:cNvSpPr/>
          <p:nvPr/>
        </p:nvSpPr>
        <p:spPr>
          <a:xfrm>
            <a:off x="769468" y="1554480"/>
            <a:ext cx="3246120" cy="2834640"/>
          </a:xfrm>
          <a:prstGeom prst="roundRect">
            <a:avLst>
              <a:gd name="adj" fmla="val 2581"/>
            </a:avLst>
          </a:prstGeom>
          <a:solidFill>
            <a:srgbClr val="D9E6F5"/>
          </a:solidFill>
          <a:ln/>
        </p:spPr>
      </p:sp>
      <p:sp>
        <p:nvSpPr>
          <p:cNvPr id="5" name="Text 3"/>
          <p:cNvSpPr/>
          <p:nvPr/>
        </p:nvSpPr>
        <p:spPr>
          <a:xfrm>
            <a:off x="769468" y="1783080"/>
            <a:ext cx="3246120" cy="365760"/>
          </a:xfrm>
          <a:prstGeom prst="rect">
            <a:avLst/>
          </a:prstGeom>
          <a:noFill/>
          <a:ln/>
        </p:spPr>
        <p:txBody>
          <a:bodyPr wrap="square" lIns="0" tIns="0" rIns="0" bIns="0" rtlCol="0" anchor="ctr"/>
          <a:lstStyle/>
          <a:p>
            <a:pPr marL="0" indent="0" algn="ctr">
              <a:buNone/>
            </a:pPr>
            <a:r>
              <a:rPr lang="en-US" sz="1500" b="1" dirty="0">
                <a:solidFill>
                  <a:srgbClr val="1E3A5F"/>
                </a:solidFill>
                <a:latin typeface="Times New Roman" pitchFamily="34" charset="0"/>
                <a:ea typeface="Times New Roman" pitchFamily="34" charset="-122"/>
                <a:cs typeface="Times New Roman" pitchFamily="34" charset="-120"/>
              </a:rPr>
              <a:t>FRONT-END</a:t>
            </a:r>
            <a:endParaRPr lang="en-US" sz="1500" dirty="0"/>
          </a:p>
        </p:txBody>
      </p:sp>
      <p:sp>
        <p:nvSpPr>
          <p:cNvPr id="6" name="Text 4"/>
          <p:cNvSpPr/>
          <p:nvPr/>
        </p:nvSpPr>
        <p:spPr>
          <a:xfrm>
            <a:off x="952348" y="2377440"/>
            <a:ext cx="2880360" cy="1828800"/>
          </a:xfrm>
          <a:prstGeom prst="rect">
            <a:avLst/>
          </a:prstGeom>
          <a:noFill/>
          <a:ln/>
        </p:spPr>
        <p:txBody>
          <a:bodyPr wrap="square" lIns="0" tIns="0" rIns="0" bIns="0" rtlCol="0" anchor="t"/>
          <a:lstStyle/>
          <a:p>
            <a:pPr marL="0" indent="0" algn="ctr">
              <a:spcAft>
                <a:spcPts val="800"/>
              </a:spcAft>
              <a:buNone/>
            </a:pPr>
            <a:r>
              <a:rPr lang="en-US" sz="1350" dirty="0">
                <a:solidFill>
                  <a:srgbClr val="1E3A5F"/>
                </a:solidFill>
                <a:latin typeface="Times New Roman" pitchFamily="34" charset="0"/>
                <a:ea typeface="Times New Roman" pitchFamily="34" charset="-122"/>
                <a:cs typeface="Times New Roman" pitchFamily="34" charset="-120"/>
              </a:rPr>
              <a:t>HTML5</a:t>
            </a:r>
            <a:endParaRPr lang="en-US" sz="1350" dirty="0"/>
          </a:p>
          <a:p>
            <a:pPr marL="0" indent="0" algn="ctr">
              <a:spcAft>
                <a:spcPts val="800"/>
              </a:spcAft>
              <a:buNone/>
            </a:pPr>
            <a:r>
              <a:rPr lang="en-US" sz="1350" dirty="0">
                <a:solidFill>
                  <a:srgbClr val="1E3A5F"/>
                </a:solidFill>
                <a:latin typeface="Times New Roman" pitchFamily="34" charset="0"/>
                <a:ea typeface="Times New Roman" pitchFamily="34" charset="-122"/>
                <a:cs typeface="Times New Roman" pitchFamily="34" charset="-120"/>
              </a:rPr>
              <a:t>CSS3</a:t>
            </a:r>
            <a:endParaRPr lang="en-US" sz="1350" dirty="0"/>
          </a:p>
          <a:p>
            <a:pPr marL="0" indent="0" algn="ctr">
              <a:spcAft>
                <a:spcPts val="800"/>
              </a:spcAft>
              <a:buNone/>
            </a:pPr>
            <a:r>
              <a:rPr lang="en-US" sz="1350" dirty="0">
                <a:solidFill>
                  <a:srgbClr val="1E3A5F"/>
                </a:solidFill>
                <a:latin typeface="Times New Roman" pitchFamily="34" charset="0"/>
                <a:ea typeface="Times New Roman" pitchFamily="34" charset="-122"/>
                <a:cs typeface="Times New Roman" pitchFamily="34" charset="-120"/>
              </a:rPr>
              <a:t>Bootstrap 5</a:t>
            </a:r>
            <a:endParaRPr lang="en-US" sz="1350" dirty="0"/>
          </a:p>
          <a:p>
            <a:pPr marL="0" indent="0" algn="ctr">
              <a:spcAft>
                <a:spcPts val="800"/>
              </a:spcAft>
              <a:buNone/>
            </a:pPr>
            <a:r>
              <a:rPr lang="en-US" sz="1350" dirty="0">
                <a:solidFill>
                  <a:srgbClr val="1E3A5F"/>
                </a:solidFill>
                <a:latin typeface="Times New Roman" pitchFamily="34" charset="0"/>
                <a:ea typeface="Times New Roman" pitchFamily="34" charset="-122"/>
                <a:cs typeface="Times New Roman" pitchFamily="34" charset="-120"/>
              </a:rPr>
              <a:t>JavaScript / jQuery</a:t>
            </a:r>
            <a:endParaRPr lang="en-US" sz="1350" dirty="0"/>
          </a:p>
        </p:txBody>
      </p:sp>
      <p:sp>
        <p:nvSpPr>
          <p:cNvPr id="7" name="Text 5"/>
          <p:cNvSpPr/>
          <p:nvPr/>
        </p:nvSpPr>
        <p:spPr>
          <a:xfrm>
            <a:off x="4015588" y="2697480"/>
            <a:ext cx="457200" cy="548640"/>
          </a:xfrm>
          <a:prstGeom prst="rect">
            <a:avLst/>
          </a:prstGeom>
          <a:noFill/>
          <a:ln/>
        </p:spPr>
        <p:txBody>
          <a:bodyPr wrap="square" lIns="0" tIns="0" rIns="0" bIns="0" rtlCol="0" anchor="ctr"/>
          <a:lstStyle/>
          <a:p>
            <a:pPr marL="0" indent="0" algn="ctr">
              <a:buNone/>
            </a:pPr>
            <a:r>
              <a:rPr lang="en-US" sz="2200" b="1" dirty="0">
                <a:solidFill>
                  <a:srgbClr val="1E3A5F"/>
                </a:solidFill>
                <a:latin typeface="Times New Roman" pitchFamily="34" charset="0"/>
                <a:ea typeface="Times New Roman" pitchFamily="34" charset="-122"/>
                <a:cs typeface="Times New Roman" pitchFamily="34" charset="-120"/>
              </a:rPr>
              <a:t>→</a:t>
            </a:r>
            <a:endParaRPr lang="en-US" sz="2200" dirty="0"/>
          </a:p>
        </p:txBody>
      </p:sp>
      <p:sp>
        <p:nvSpPr>
          <p:cNvPr id="8" name="Shape 6"/>
          <p:cNvSpPr/>
          <p:nvPr/>
        </p:nvSpPr>
        <p:spPr>
          <a:xfrm>
            <a:off x="4472788" y="1554480"/>
            <a:ext cx="3246120" cy="2834640"/>
          </a:xfrm>
          <a:prstGeom prst="roundRect">
            <a:avLst>
              <a:gd name="adj" fmla="val 2581"/>
            </a:avLst>
          </a:prstGeom>
          <a:solidFill>
            <a:srgbClr val="1E3A5F"/>
          </a:solidFill>
          <a:ln/>
        </p:spPr>
      </p:sp>
      <p:sp>
        <p:nvSpPr>
          <p:cNvPr id="9" name="Text 7"/>
          <p:cNvSpPr/>
          <p:nvPr/>
        </p:nvSpPr>
        <p:spPr>
          <a:xfrm>
            <a:off x="4472788" y="1783080"/>
            <a:ext cx="32461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BACK-END</a:t>
            </a:r>
            <a:endParaRPr lang="en-US" sz="1500" dirty="0"/>
          </a:p>
        </p:txBody>
      </p:sp>
      <p:sp>
        <p:nvSpPr>
          <p:cNvPr id="10" name="Text 8"/>
          <p:cNvSpPr/>
          <p:nvPr/>
        </p:nvSpPr>
        <p:spPr>
          <a:xfrm>
            <a:off x="4655668" y="2377440"/>
            <a:ext cx="2880360" cy="1828800"/>
          </a:xfrm>
          <a:prstGeom prst="rect">
            <a:avLst/>
          </a:prstGeom>
          <a:noFill/>
          <a:ln/>
        </p:spPr>
        <p:txBody>
          <a:bodyPr wrap="square" lIns="0" tIns="0" rIns="0" bIns="0" rtlCol="0" anchor="t"/>
          <a:lstStyle/>
          <a:p>
            <a:pPr marL="0" indent="0" algn="ctr">
              <a:spcAft>
                <a:spcPts val="800"/>
              </a:spcAft>
              <a:buNone/>
            </a:pPr>
            <a:r>
              <a:rPr lang="en-US" sz="1350" dirty="0">
                <a:solidFill>
                  <a:srgbClr val="FFFFFF"/>
                </a:solidFill>
                <a:latin typeface="Times New Roman" pitchFamily="34" charset="0"/>
                <a:ea typeface="Times New Roman" pitchFamily="34" charset="-122"/>
                <a:cs typeface="Times New Roman" pitchFamily="34" charset="-120"/>
              </a:rPr>
              <a:t>PHP</a:t>
            </a:r>
            <a:endParaRPr lang="en-US" sz="1350" dirty="0"/>
          </a:p>
          <a:p>
            <a:pPr marL="0" indent="0" algn="ctr">
              <a:spcAft>
                <a:spcPts val="800"/>
              </a:spcAft>
              <a:buNone/>
            </a:pPr>
            <a:r>
              <a:rPr lang="en-US" sz="1350" dirty="0">
                <a:solidFill>
                  <a:srgbClr val="FFFFFF"/>
                </a:solidFill>
                <a:latin typeface="Times New Roman" pitchFamily="34" charset="0"/>
                <a:ea typeface="Times New Roman" pitchFamily="34" charset="-122"/>
                <a:cs typeface="Times New Roman" pitchFamily="34" charset="-120"/>
              </a:rPr>
              <a:t>Apache (XAMPP)</a:t>
            </a:r>
            <a:endParaRPr lang="en-US" sz="1350" dirty="0"/>
          </a:p>
        </p:txBody>
      </p:sp>
      <p:sp>
        <p:nvSpPr>
          <p:cNvPr id="11" name="Text 9"/>
          <p:cNvSpPr/>
          <p:nvPr/>
        </p:nvSpPr>
        <p:spPr>
          <a:xfrm>
            <a:off x="7718908" y="2697480"/>
            <a:ext cx="457200" cy="548640"/>
          </a:xfrm>
          <a:prstGeom prst="rect">
            <a:avLst/>
          </a:prstGeom>
          <a:noFill/>
          <a:ln/>
        </p:spPr>
        <p:txBody>
          <a:bodyPr wrap="square" lIns="0" tIns="0" rIns="0" bIns="0" rtlCol="0" anchor="ctr"/>
          <a:lstStyle/>
          <a:p>
            <a:pPr marL="0" indent="0" algn="ctr">
              <a:buNone/>
            </a:pPr>
            <a:r>
              <a:rPr lang="en-US" sz="2200" b="1" dirty="0">
                <a:solidFill>
                  <a:srgbClr val="1E3A5F"/>
                </a:solidFill>
                <a:latin typeface="Times New Roman" pitchFamily="34" charset="0"/>
                <a:ea typeface="Times New Roman" pitchFamily="34" charset="-122"/>
                <a:cs typeface="Times New Roman" pitchFamily="34" charset="-120"/>
              </a:rPr>
              <a:t>→</a:t>
            </a:r>
            <a:endParaRPr lang="en-US" sz="2200" dirty="0"/>
          </a:p>
        </p:txBody>
      </p:sp>
      <p:sp>
        <p:nvSpPr>
          <p:cNvPr id="12" name="Shape 10"/>
          <p:cNvSpPr/>
          <p:nvPr/>
        </p:nvSpPr>
        <p:spPr>
          <a:xfrm>
            <a:off x="8176108" y="1554480"/>
            <a:ext cx="3246120" cy="2834640"/>
          </a:xfrm>
          <a:prstGeom prst="roundRect">
            <a:avLst>
              <a:gd name="adj" fmla="val 2581"/>
            </a:avLst>
          </a:prstGeom>
          <a:solidFill>
            <a:srgbClr val="E8A62E"/>
          </a:solidFill>
          <a:ln/>
        </p:spPr>
      </p:sp>
      <p:sp>
        <p:nvSpPr>
          <p:cNvPr id="13" name="Text 11"/>
          <p:cNvSpPr/>
          <p:nvPr/>
        </p:nvSpPr>
        <p:spPr>
          <a:xfrm>
            <a:off x="8176108" y="1783080"/>
            <a:ext cx="3246120" cy="365760"/>
          </a:xfrm>
          <a:prstGeom prst="rect">
            <a:avLst/>
          </a:prstGeom>
          <a:noFill/>
          <a:ln/>
        </p:spPr>
        <p:txBody>
          <a:bodyPr wrap="square" lIns="0" tIns="0" rIns="0" bIns="0" rtlCol="0" anchor="ctr"/>
          <a:lstStyle/>
          <a:p>
            <a:pPr marL="0" indent="0" algn="ctr">
              <a:buNone/>
            </a:pPr>
            <a:r>
              <a:rPr lang="en-US" sz="1500" b="1" dirty="0">
                <a:solidFill>
                  <a:srgbClr val="13293F"/>
                </a:solidFill>
                <a:latin typeface="Times New Roman" pitchFamily="34" charset="0"/>
                <a:ea typeface="Times New Roman" pitchFamily="34" charset="-122"/>
                <a:cs typeface="Times New Roman" pitchFamily="34" charset="-120"/>
              </a:rPr>
              <a:t>DATABASE</a:t>
            </a:r>
            <a:endParaRPr lang="en-US" sz="1500" dirty="0"/>
          </a:p>
        </p:txBody>
      </p:sp>
      <p:sp>
        <p:nvSpPr>
          <p:cNvPr id="14" name="Text 12"/>
          <p:cNvSpPr/>
          <p:nvPr/>
        </p:nvSpPr>
        <p:spPr>
          <a:xfrm>
            <a:off x="8358988" y="2377440"/>
            <a:ext cx="2880360" cy="1828800"/>
          </a:xfrm>
          <a:prstGeom prst="rect">
            <a:avLst/>
          </a:prstGeom>
          <a:noFill/>
          <a:ln/>
        </p:spPr>
        <p:txBody>
          <a:bodyPr wrap="square" lIns="0" tIns="0" rIns="0" bIns="0" rtlCol="0" anchor="t"/>
          <a:lstStyle/>
          <a:p>
            <a:pPr marL="0" indent="0" algn="ctr">
              <a:spcAft>
                <a:spcPts val="800"/>
              </a:spcAft>
              <a:buNone/>
            </a:pPr>
            <a:r>
              <a:rPr lang="en-US" sz="1350" dirty="0">
                <a:solidFill>
                  <a:srgbClr val="13293F"/>
                </a:solidFill>
                <a:latin typeface="Times New Roman" pitchFamily="34" charset="0"/>
                <a:ea typeface="Times New Roman" pitchFamily="34" charset="-122"/>
                <a:cs typeface="Times New Roman" pitchFamily="34" charset="-120"/>
              </a:rPr>
              <a:t>MySQL</a:t>
            </a:r>
            <a:endParaRPr lang="en-US" sz="1350" dirty="0"/>
          </a:p>
          <a:p>
            <a:pPr marL="0" indent="0" algn="ctr">
              <a:spcAft>
                <a:spcPts val="800"/>
              </a:spcAft>
              <a:buNone/>
            </a:pPr>
            <a:r>
              <a:rPr lang="en-US" sz="1350" dirty="0">
                <a:solidFill>
                  <a:srgbClr val="13293F"/>
                </a:solidFill>
                <a:latin typeface="Times New Roman" pitchFamily="34" charset="0"/>
                <a:ea typeface="Times New Roman" pitchFamily="34" charset="-122"/>
                <a:cs typeface="Times New Roman" pitchFamily="34" charset="-120"/>
              </a:rPr>
              <a:t>phpMyAdmin</a:t>
            </a:r>
            <a:endParaRPr lang="en-US" sz="1350" dirty="0"/>
          </a:p>
        </p:txBody>
      </p:sp>
      <p:sp>
        <p:nvSpPr>
          <p:cNvPr id="15" name="Text 13"/>
          <p:cNvSpPr/>
          <p:nvPr/>
        </p:nvSpPr>
        <p:spPr>
          <a:xfrm>
            <a:off x="548640" y="4709160"/>
            <a:ext cx="5486400"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SUPPORTING TOOLS</a:t>
            </a:r>
            <a:endParaRPr lang="en-US" sz="1300" dirty="0"/>
          </a:p>
        </p:txBody>
      </p:sp>
      <p:sp>
        <p:nvSpPr>
          <p:cNvPr id="16" name="Text 14"/>
          <p:cNvSpPr/>
          <p:nvPr/>
        </p:nvSpPr>
        <p:spPr>
          <a:xfrm>
            <a:off x="548640" y="5074920"/>
            <a:ext cx="11094415" cy="128016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Git &amp; GitHub - version control and team collaboration</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Figma - high-fidelity UI/UX prototyping and page navigation</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Postman - manual testing of PHP endpoints during development</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Bootstrap Icons / Font Awesome - icons across the interface</a:t>
            </a:r>
            <a:endParaRPr lang="en-US" sz="1250" dirty="0"/>
          </a:p>
        </p:txBody>
      </p:sp>
      <p:sp>
        <p:nvSpPr>
          <p:cNvPr id="17" name="Text 15"/>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18" name="Text 16"/>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Technology Stack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SYSTEM DIAGRAMS</a:t>
            </a:r>
            <a:endParaRPr lang="en-US" sz="3000" dirty="0"/>
          </a:p>
        </p:txBody>
      </p:sp>
      <p:sp>
        <p:nvSpPr>
          <p:cNvPr id="4" name="Text 2"/>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Data Flow Diagram (Context Level)</a:t>
            </a:r>
            <a:endParaRPr lang="en-US" sz="1400" dirty="0"/>
          </a:p>
        </p:txBody>
      </p:sp>
      <p:sp>
        <p:nvSpPr>
          <p:cNvPr id="5" name="Shape 3"/>
          <p:cNvSpPr/>
          <p:nvPr/>
        </p:nvSpPr>
        <p:spPr>
          <a:xfrm>
            <a:off x="1355253" y="1554480"/>
            <a:ext cx="9481190" cy="4206240"/>
          </a:xfrm>
          <a:prstGeom prst="roundRect">
            <a:avLst>
              <a:gd name="adj" fmla="val 1304"/>
            </a:avLst>
          </a:prstGeom>
          <a:solidFill>
            <a:srgbClr val="F7F5F0"/>
          </a:solidFill>
          <a:ln w="15875">
            <a:solidFill>
              <a:srgbClr val="1E3A5F"/>
            </a:solidFill>
            <a:prstDash val="dash"/>
          </a:ln>
        </p:spPr>
      </p:sp>
      <p:sp>
        <p:nvSpPr>
          <p:cNvPr id="7" name="Text 5"/>
          <p:cNvSpPr/>
          <p:nvPr/>
        </p:nvSpPr>
        <p:spPr>
          <a:xfrm>
            <a:off x="548640" y="5897880"/>
            <a:ext cx="11094415" cy="457200"/>
          </a:xfrm>
          <a:prstGeom prst="rect">
            <a:avLst/>
          </a:prstGeom>
          <a:noFill/>
          <a:ln/>
        </p:spPr>
        <p:txBody>
          <a:bodyPr wrap="square" lIns="0" tIns="0" rIns="0" bIns="0" rtlCol="0" anchor="ctr"/>
          <a:lstStyle/>
          <a:p>
            <a:pPr marL="0" indent="0" algn="ctr">
              <a:buNone/>
            </a:pPr>
            <a:r>
              <a:rPr lang="en-US" sz="1200" i="1" dirty="0">
                <a:solidFill>
                  <a:srgbClr val="5B6B79"/>
                </a:solidFill>
                <a:latin typeface="Times New Roman" pitchFamily="34" charset="0"/>
                <a:ea typeface="Times New Roman" pitchFamily="34" charset="-122"/>
                <a:cs typeface="Times New Roman" pitchFamily="34" charset="-120"/>
              </a:rPr>
              <a:t>Shows how data moves between Students, Staff, Admin and the central FINDLY database across authentication, item posting, item resolution and notification processes.</a:t>
            </a:r>
            <a:endParaRPr lang="en-US" sz="1200" dirty="0"/>
          </a:p>
        </p:txBody>
      </p:sp>
      <p:sp>
        <p:nvSpPr>
          <p:cNvPr id="8" name="Text 6"/>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9" name="Text 7"/>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Diagrams</a:t>
            </a:r>
            <a:endParaRPr lang="en-US" sz="1000" dirty="0"/>
          </a:p>
        </p:txBody>
      </p:sp>
      <p:pic>
        <p:nvPicPr>
          <p:cNvPr id="12" name="Picture 11">
            <a:extLst>
              <a:ext uri="{FF2B5EF4-FFF2-40B4-BE49-F238E27FC236}">
                <a16:creationId xmlns:a16="http://schemas.microsoft.com/office/drawing/2014/main" id="{CC8357BA-5BD4-A135-9CAC-92073B488F7A}"/>
              </a:ext>
            </a:extLst>
          </p:cNvPr>
          <p:cNvPicPr>
            <a:picLocks noChangeAspect="1"/>
          </p:cNvPicPr>
          <p:nvPr/>
        </p:nvPicPr>
        <p:blipFill>
          <a:blip r:embed="rId3"/>
          <a:stretch>
            <a:fillRect/>
          </a:stretch>
        </p:blipFill>
        <p:spPr>
          <a:xfrm>
            <a:off x="1704975" y="2419350"/>
            <a:ext cx="8782050" cy="2476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6D0C40A-8C35-A9A0-A119-4E84BBCCA6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207EC9-01D3-4D31-4A32-F7CF9B0D8165}"/>
              </a:ext>
            </a:extLst>
          </p:cNvPr>
          <p:cNvSpPr/>
          <p:nvPr/>
        </p:nvSpPr>
        <p:spPr>
          <a:xfrm>
            <a:off x="548640" y="475488"/>
            <a:ext cx="146304" cy="146304"/>
          </a:xfrm>
          <a:prstGeom prst="ellipse">
            <a:avLst/>
          </a:prstGeom>
          <a:solidFill>
            <a:srgbClr val="E8A62E"/>
          </a:solidFill>
          <a:ln/>
        </p:spPr>
      </p:sp>
      <p:sp>
        <p:nvSpPr>
          <p:cNvPr id="3" name="Text 1">
            <a:extLst>
              <a:ext uri="{FF2B5EF4-FFF2-40B4-BE49-F238E27FC236}">
                <a16:creationId xmlns:a16="http://schemas.microsoft.com/office/drawing/2014/main" id="{00CEC2AD-366C-0A38-2647-46D0A9C3DC04}"/>
              </a:ext>
            </a:extLst>
          </p:cNvPr>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SYSTEM DIAGRAMS</a:t>
            </a:r>
            <a:endParaRPr lang="en-US" sz="3000" dirty="0"/>
          </a:p>
        </p:txBody>
      </p:sp>
      <p:sp>
        <p:nvSpPr>
          <p:cNvPr id="4" name="Text 2">
            <a:extLst>
              <a:ext uri="{FF2B5EF4-FFF2-40B4-BE49-F238E27FC236}">
                <a16:creationId xmlns:a16="http://schemas.microsoft.com/office/drawing/2014/main" id="{F949F8B7-1D71-5DF9-6F5D-EA192EE92342}"/>
              </a:ext>
            </a:extLst>
          </p:cNvPr>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Data Flow Diagram (Level-1)</a:t>
            </a:r>
            <a:endParaRPr lang="en-US" sz="1400" dirty="0"/>
          </a:p>
        </p:txBody>
      </p:sp>
      <p:sp>
        <p:nvSpPr>
          <p:cNvPr id="5" name="Shape 3">
            <a:extLst>
              <a:ext uri="{FF2B5EF4-FFF2-40B4-BE49-F238E27FC236}">
                <a16:creationId xmlns:a16="http://schemas.microsoft.com/office/drawing/2014/main" id="{8DEF6E81-D3EA-36E7-F74E-5917F67BCC0C}"/>
              </a:ext>
            </a:extLst>
          </p:cNvPr>
          <p:cNvSpPr/>
          <p:nvPr/>
        </p:nvSpPr>
        <p:spPr>
          <a:xfrm>
            <a:off x="3165133" y="1554480"/>
            <a:ext cx="5861430" cy="4206240"/>
          </a:xfrm>
          <a:prstGeom prst="roundRect">
            <a:avLst>
              <a:gd name="adj" fmla="val 1304"/>
            </a:avLst>
          </a:prstGeom>
          <a:solidFill>
            <a:srgbClr val="F7F5F0"/>
          </a:solidFill>
          <a:ln w="15875">
            <a:solidFill>
              <a:srgbClr val="1E3A5F"/>
            </a:solidFill>
            <a:prstDash val="dash"/>
          </a:ln>
        </p:spPr>
      </p:sp>
      <p:sp>
        <p:nvSpPr>
          <p:cNvPr id="7" name="Text 5">
            <a:extLst>
              <a:ext uri="{FF2B5EF4-FFF2-40B4-BE49-F238E27FC236}">
                <a16:creationId xmlns:a16="http://schemas.microsoft.com/office/drawing/2014/main" id="{561A8A65-0686-DD1E-4ABA-0C44C6BEE42F}"/>
              </a:ext>
            </a:extLst>
          </p:cNvPr>
          <p:cNvSpPr/>
          <p:nvPr/>
        </p:nvSpPr>
        <p:spPr>
          <a:xfrm>
            <a:off x="548640" y="5897880"/>
            <a:ext cx="11094415" cy="457200"/>
          </a:xfrm>
          <a:prstGeom prst="rect">
            <a:avLst/>
          </a:prstGeom>
          <a:noFill/>
          <a:ln/>
        </p:spPr>
        <p:txBody>
          <a:bodyPr wrap="square" lIns="0" tIns="0" rIns="0" bIns="0" rtlCol="0" anchor="ctr"/>
          <a:lstStyle/>
          <a:p>
            <a:pPr marL="0" indent="0" algn="ctr">
              <a:buNone/>
            </a:pPr>
            <a:r>
              <a:rPr lang="en-US" sz="1200" i="1" dirty="0">
                <a:solidFill>
                  <a:srgbClr val="5B6B79"/>
                </a:solidFill>
                <a:latin typeface="Times New Roman" pitchFamily="34" charset="0"/>
                <a:ea typeface="Times New Roman" pitchFamily="34" charset="-122"/>
                <a:cs typeface="Times New Roman" pitchFamily="34" charset="-120"/>
              </a:rPr>
              <a:t>Shows how data moves between Students, Staff, Admin and the central FINDLY database across authentication, item posting, item resolution and notification processes.</a:t>
            </a:r>
            <a:endParaRPr lang="en-US" sz="1200" dirty="0"/>
          </a:p>
        </p:txBody>
      </p:sp>
      <p:sp>
        <p:nvSpPr>
          <p:cNvPr id="8" name="Text 6">
            <a:extLst>
              <a:ext uri="{FF2B5EF4-FFF2-40B4-BE49-F238E27FC236}">
                <a16:creationId xmlns:a16="http://schemas.microsoft.com/office/drawing/2014/main" id="{62E41DC2-14FE-CE7D-3D74-E8703450CDEE}"/>
              </a:ext>
            </a:extLst>
          </p:cNvPr>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9" name="Text 7">
            <a:extLst>
              <a:ext uri="{FF2B5EF4-FFF2-40B4-BE49-F238E27FC236}">
                <a16:creationId xmlns:a16="http://schemas.microsoft.com/office/drawing/2014/main" id="{6738E88A-8593-BAB0-E41C-F03F844CF64D}"/>
              </a:ext>
            </a:extLst>
          </p:cNvPr>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Diagrams</a:t>
            </a:r>
            <a:endParaRPr lang="en-US" sz="1000" dirty="0"/>
          </a:p>
        </p:txBody>
      </p:sp>
      <p:pic>
        <p:nvPicPr>
          <p:cNvPr id="11" name="Picture 10">
            <a:extLst>
              <a:ext uri="{FF2B5EF4-FFF2-40B4-BE49-F238E27FC236}">
                <a16:creationId xmlns:a16="http://schemas.microsoft.com/office/drawing/2014/main" id="{0ED91A72-6AED-7C2C-D009-FF053A442088}"/>
              </a:ext>
            </a:extLst>
          </p:cNvPr>
          <p:cNvPicPr>
            <a:picLocks noChangeAspect="1"/>
          </p:cNvPicPr>
          <p:nvPr/>
        </p:nvPicPr>
        <p:blipFill>
          <a:blip r:embed="rId3"/>
          <a:stretch>
            <a:fillRect/>
          </a:stretch>
        </p:blipFill>
        <p:spPr>
          <a:xfrm>
            <a:off x="3165132" y="1445474"/>
            <a:ext cx="5861430" cy="4424252"/>
          </a:xfrm>
          <a:prstGeom prst="rect">
            <a:avLst/>
          </a:prstGeom>
        </p:spPr>
      </p:pic>
    </p:spTree>
    <p:extLst>
      <p:ext uri="{BB962C8B-B14F-4D97-AF65-F5344CB8AC3E}">
        <p14:creationId xmlns:p14="http://schemas.microsoft.com/office/powerpoint/2010/main" val="3676883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E4DE9DB-6B7C-E486-11A5-66AB8DD9CC8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9F0C6A7-A890-A36C-5F9E-4CC72076C3E1}"/>
              </a:ext>
            </a:extLst>
          </p:cNvPr>
          <p:cNvSpPr/>
          <p:nvPr/>
        </p:nvSpPr>
        <p:spPr>
          <a:xfrm>
            <a:off x="548640" y="475488"/>
            <a:ext cx="146304" cy="146304"/>
          </a:xfrm>
          <a:prstGeom prst="ellipse">
            <a:avLst/>
          </a:prstGeom>
          <a:solidFill>
            <a:srgbClr val="E8A62E"/>
          </a:solidFill>
          <a:ln/>
        </p:spPr>
      </p:sp>
      <p:sp>
        <p:nvSpPr>
          <p:cNvPr id="3" name="Text 1">
            <a:extLst>
              <a:ext uri="{FF2B5EF4-FFF2-40B4-BE49-F238E27FC236}">
                <a16:creationId xmlns:a16="http://schemas.microsoft.com/office/drawing/2014/main" id="{186909A6-068E-94BD-D467-42C787831513}"/>
              </a:ext>
            </a:extLst>
          </p:cNvPr>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SYSTEM DIAGRAMS</a:t>
            </a:r>
            <a:endParaRPr lang="en-US" sz="3000" dirty="0"/>
          </a:p>
        </p:txBody>
      </p:sp>
      <p:sp>
        <p:nvSpPr>
          <p:cNvPr id="4" name="Text 2">
            <a:extLst>
              <a:ext uri="{FF2B5EF4-FFF2-40B4-BE49-F238E27FC236}">
                <a16:creationId xmlns:a16="http://schemas.microsoft.com/office/drawing/2014/main" id="{8F2773AE-0085-A5EC-E8E1-3EDF27F1383C}"/>
              </a:ext>
            </a:extLst>
          </p:cNvPr>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Data Flow Diagram (Level-2)</a:t>
            </a:r>
            <a:endParaRPr lang="en-US" sz="1400" dirty="0"/>
          </a:p>
        </p:txBody>
      </p:sp>
      <p:sp>
        <p:nvSpPr>
          <p:cNvPr id="5" name="Shape 3">
            <a:extLst>
              <a:ext uri="{FF2B5EF4-FFF2-40B4-BE49-F238E27FC236}">
                <a16:creationId xmlns:a16="http://schemas.microsoft.com/office/drawing/2014/main" id="{0B5E2D62-8061-6799-3694-7B490FB727F3}"/>
              </a:ext>
            </a:extLst>
          </p:cNvPr>
          <p:cNvSpPr/>
          <p:nvPr/>
        </p:nvSpPr>
        <p:spPr>
          <a:xfrm>
            <a:off x="3165133" y="1554480"/>
            <a:ext cx="5861430" cy="4206240"/>
          </a:xfrm>
          <a:prstGeom prst="roundRect">
            <a:avLst>
              <a:gd name="adj" fmla="val 1304"/>
            </a:avLst>
          </a:prstGeom>
          <a:solidFill>
            <a:srgbClr val="F7F5F0"/>
          </a:solidFill>
          <a:ln w="15875">
            <a:solidFill>
              <a:srgbClr val="1E3A5F"/>
            </a:solidFill>
            <a:prstDash val="dash"/>
          </a:ln>
        </p:spPr>
      </p:sp>
      <p:sp>
        <p:nvSpPr>
          <p:cNvPr id="7" name="Text 5">
            <a:extLst>
              <a:ext uri="{FF2B5EF4-FFF2-40B4-BE49-F238E27FC236}">
                <a16:creationId xmlns:a16="http://schemas.microsoft.com/office/drawing/2014/main" id="{EBCB9349-AE7B-F167-0A54-761D53094A05}"/>
              </a:ext>
            </a:extLst>
          </p:cNvPr>
          <p:cNvSpPr/>
          <p:nvPr/>
        </p:nvSpPr>
        <p:spPr>
          <a:xfrm>
            <a:off x="548640" y="5897880"/>
            <a:ext cx="11094415" cy="457200"/>
          </a:xfrm>
          <a:prstGeom prst="rect">
            <a:avLst/>
          </a:prstGeom>
          <a:noFill/>
          <a:ln/>
        </p:spPr>
        <p:txBody>
          <a:bodyPr wrap="square" lIns="0" tIns="0" rIns="0" bIns="0" rtlCol="0" anchor="ctr"/>
          <a:lstStyle/>
          <a:p>
            <a:pPr marL="0" indent="0" algn="ctr">
              <a:buNone/>
            </a:pPr>
            <a:r>
              <a:rPr lang="en-US" sz="1200" i="1" dirty="0">
                <a:solidFill>
                  <a:srgbClr val="5B6B79"/>
                </a:solidFill>
                <a:latin typeface="Times New Roman" pitchFamily="34" charset="0"/>
                <a:ea typeface="Times New Roman" pitchFamily="34" charset="-122"/>
                <a:cs typeface="Times New Roman" pitchFamily="34" charset="-120"/>
              </a:rPr>
              <a:t>Shows how data moves between Students, Staff, Admin and the central FINDLY database across authentication, item posting, item resolution and notification processes.</a:t>
            </a:r>
            <a:endParaRPr lang="en-US" sz="1200" dirty="0"/>
          </a:p>
        </p:txBody>
      </p:sp>
      <p:sp>
        <p:nvSpPr>
          <p:cNvPr id="8" name="Text 6">
            <a:extLst>
              <a:ext uri="{FF2B5EF4-FFF2-40B4-BE49-F238E27FC236}">
                <a16:creationId xmlns:a16="http://schemas.microsoft.com/office/drawing/2014/main" id="{5BBD054E-84D0-BFAB-DB8C-E1BF2394C050}"/>
              </a:ext>
            </a:extLst>
          </p:cNvPr>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9" name="Text 7">
            <a:extLst>
              <a:ext uri="{FF2B5EF4-FFF2-40B4-BE49-F238E27FC236}">
                <a16:creationId xmlns:a16="http://schemas.microsoft.com/office/drawing/2014/main" id="{BB961A27-F16B-85FA-14C2-D1237E6877E3}"/>
              </a:ext>
            </a:extLst>
          </p:cNvPr>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Diagrams</a:t>
            </a:r>
            <a:endParaRPr lang="en-US" sz="1000" dirty="0"/>
          </a:p>
        </p:txBody>
      </p:sp>
      <p:pic>
        <p:nvPicPr>
          <p:cNvPr id="12" name="Picture 11">
            <a:extLst>
              <a:ext uri="{FF2B5EF4-FFF2-40B4-BE49-F238E27FC236}">
                <a16:creationId xmlns:a16="http://schemas.microsoft.com/office/drawing/2014/main" id="{399BBA68-3F08-ADE1-7350-8CCF959BE1F5}"/>
              </a:ext>
            </a:extLst>
          </p:cNvPr>
          <p:cNvPicPr>
            <a:picLocks noChangeAspect="1"/>
          </p:cNvPicPr>
          <p:nvPr/>
        </p:nvPicPr>
        <p:blipFill>
          <a:blip r:embed="rId3"/>
          <a:stretch>
            <a:fillRect/>
          </a:stretch>
        </p:blipFill>
        <p:spPr>
          <a:xfrm>
            <a:off x="3289350" y="1431758"/>
            <a:ext cx="5612993" cy="4451684"/>
          </a:xfrm>
          <a:prstGeom prst="rect">
            <a:avLst/>
          </a:prstGeom>
        </p:spPr>
      </p:pic>
    </p:spTree>
    <p:extLst>
      <p:ext uri="{BB962C8B-B14F-4D97-AF65-F5344CB8AC3E}">
        <p14:creationId xmlns:p14="http://schemas.microsoft.com/office/powerpoint/2010/main" val="2131946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SYSTEM DIAGRAMS</a:t>
            </a:r>
            <a:endParaRPr lang="en-US" sz="3000" dirty="0"/>
          </a:p>
        </p:txBody>
      </p:sp>
      <p:sp>
        <p:nvSpPr>
          <p:cNvPr id="4" name="Text 2"/>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Use Case Diagram  (Mandatory)</a:t>
            </a:r>
            <a:endParaRPr lang="en-US" sz="1400" dirty="0"/>
          </a:p>
        </p:txBody>
      </p:sp>
      <p:sp>
        <p:nvSpPr>
          <p:cNvPr id="5" name="Shape 3"/>
          <p:cNvSpPr/>
          <p:nvPr/>
        </p:nvSpPr>
        <p:spPr>
          <a:xfrm>
            <a:off x="2871233" y="1554480"/>
            <a:ext cx="6449230" cy="4206240"/>
          </a:xfrm>
          <a:prstGeom prst="roundRect">
            <a:avLst>
              <a:gd name="adj" fmla="val 1304"/>
            </a:avLst>
          </a:prstGeom>
          <a:solidFill>
            <a:srgbClr val="F7F5F0"/>
          </a:solidFill>
          <a:ln w="15875">
            <a:solidFill>
              <a:srgbClr val="1E3A5F"/>
            </a:solidFill>
            <a:prstDash val="dash"/>
          </a:ln>
        </p:spPr>
      </p:sp>
      <p:sp>
        <p:nvSpPr>
          <p:cNvPr id="7" name="Text 5"/>
          <p:cNvSpPr/>
          <p:nvPr/>
        </p:nvSpPr>
        <p:spPr>
          <a:xfrm>
            <a:off x="548640" y="5897880"/>
            <a:ext cx="11094415" cy="457200"/>
          </a:xfrm>
          <a:prstGeom prst="rect">
            <a:avLst/>
          </a:prstGeom>
          <a:noFill/>
          <a:ln/>
        </p:spPr>
        <p:txBody>
          <a:bodyPr wrap="square" lIns="0" tIns="0" rIns="0" bIns="0" rtlCol="0" anchor="ctr"/>
          <a:lstStyle/>
          <a:p>
            <a:pPr marL="0" indent="0" algn="ctr">
              <a:buNone/>
            </a:pPr>
            <a:r>
              <a:rPr lang="en-US" sz="1200" i="1" dirty="0">
                <a:solidFill>
                  <a:srgbClr val="5B6B79"/>
                </a:solidFill>
                <a:latin typeface="Times New Roman" pitchFamily="34" charset="0"/>
                <a:ea typeface="Times New Roman" pitchFamily="34" charset="-122"/>
                <a:cs typeface="Times New Roman" pitchFamily="34" charset="-120"/>
              </a:rPr>
              <a:t>Actors: Guest, Student, Staff and Admin. Covers Register/Login, Report Lost Item, Browse Found Items, Log Found Item (Staff/Admin only), Mark Item as Claimed, Record Recipient Details, Moderate Posts and Manage Categories/Users.</a:t>
            </a:r>
            <a:endParaRPr lang="en-US" sz="1200" dirty="0"/>
          </a:p>
        </p:txBody>
      </p:sp>
      <p:sp>
        <p:nvSpPr>
          <p:cNvPr id="8" name="Text 6"/>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9" name="Text 7"/>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Diagrams</a:t>
            </a:r>
            <a:endParaRPr lang="en-US" sz="1000" dirty="0"/>
          </a:p>
        </p:txBody>
      </p:sp>
      <p:pic>
        <p:nvPicPr>
          <p:cNvPr id="12" name="Picture 11">
            <a:extLst>
              <a:ext uri="{FF2B5EF4-FFF2-40B4-BE49-F238E27FC236}">
                <a16:creationId xmlns:a16="http://schemas.microsoft.com/office/drawing/2014/main" id="{94F565EF-0C27-C1B6-3270-919795EDD046}"/>
              </a:ext>
            </a:extLst>
          </p:cNvPr>
          <p:cNvPicPr>
            <a:picLocks noChangeAspect="1"/>
          </p:cNvPicPr>
          <p:nvPr/>
        </p:nvPicPr>
        <p:blipFill>
          <a:blip r:embed="rId3"/>
          <a:stretch>
            <a:fillRect/>
          </a:stretch>
        </p:blipFill>
        <p:spPr>
          <a:xfrm>
            <a:off x="3425888" y="1554480"/>
            <a:ext cx="5894575" cy="436345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SYSTEM DIAGRAMS</a:t>
            </a:r>
            <a:endParaRPr lang="en-US" sz="3000" dirty="0"/>
          </a:p>
        </p:txBody>
      </p:sp>
      <p:sp>
        <p:nvSpPr>
          <p:cNvPr id="4" name="Text 2"/>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System Architecture (as applicable)</a:t>
            </a:r>
            <a:endParaRPr lang="en-US" sz="1400" dirty="0"/>
          </a:p>
        </p:txBody>
      </p:sp>
      <p:sp>
        <p:nvSpPr>
          <p:cNvPr id="5" name="Shape 3"/>
          <p:cNvSpPr/>
          <p:nvPr/>
        </p:nvSpPr>
        <p:spPr>
          <a:xfrm>
            <a:off x="2293716" y="1554480"/>
            <a:ext cx="7604264" cy="4206240"/>
          </a:xfrm>
          <a:prstGeom prst="roundRect">
            <a:avLst>
              <a:gd name="adj" fmla="val 1304"/>
            </a:avLst>
          </a:prstGeom>
          <a:solidFill>
            <a:srgbClr val="F7F5F0"/>
          </a:solidFill>
          <a:ln w="15875">
            <a:solidFill>
              <a:srgbClr val="1E3A5F"/>
            </a:solidFill>
            <a:prstDash val="dash"/>
          </a:ln>
        </p:spPr>
      </p:sp>
      <p:sp>
        <p:nvSpPr>
          <p:cNvPr id="8" name="Text 6"/>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9" name="Text 7"/>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Diagrams</a:t>
            </a:r>
            <a:endParaRPr lang="en-US" sz="1000" dirty="0"/>
          </a:p>
        </p:txBody>
      </p:sp>
      <p:pic>
        <p:nvPicPr>
          <p:cNvPr id="12" name="Picture 11">
            <a:extLst>
              <a:ext uri="{FF2B5EF4-FFF2-40B4-BE49-F238E27FC236}">
                <a16:creationId xmlns:a16="http://schemas.microsoft.com/office/drawing/2014/main" id="{C50552AF-53D9-62D3-51C7-7FFD38D221B4}"/>
              </a:ext>
            </a:extLst>
          </p:cNvPr>
          <p:cNvPicPr>
            <a:picLocks noChangeAspect="1"/>
          </p:cNvPicPr>
          <p:nvPr/>
        </p:nvPicPr>
        <p:blipFill>
          <a:blip r:embed="rId3"/>
          <a:stretch>
            <a:fillRect/>
          </a:stretch>
        </p:blipFill>
        <p:spPr>
          <a:xfrm>
            <a:off x="2786850" y="1610710"/>
            <a:ext cx="6745369" cy="40937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FUNCTIONAL REQUIREMENTS</a:t>
            </a:r>
            <a:endParaRPr lang="en-US" sz="3000" dirty="0"/>
          </a:p>
        </p:txBody>
      </p:sp>
      <p:sp>
        <p:nvSpPr>
          <p:cNvPr id="4" name="Shape 2"/>
          <p:cNvSpPr/>
          <p:nvPr/>
        </p:nvSpPr>
        <p:spPr>
          <a:xfrm>
            <a:off x="548640" y="1417320"/>
            <a:ext cx="3484778" cy="4572000"/>
          </a:xfrm>
          <a:prstGeom prst="roundRect">
            <a:avLst>
              <a:gd name="adj" fmla="val 2099"/>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5" name="Shape 3"/>
          <p:cNvSpPr/>
          <p:nvPr/>
        </p:nvSpPr>
        <p:spPr>
          <a:xfrm>
            <a:off x="548640" y="1417320"/>
            <a:ext cx="3484778" cy="502920"/>
          </a:xfrm>
          <a:prstGeom prst="rect">
            <a:avLst/>
          </a:prstGeom>
          <a:solidFill>
            <a:srgbClr val="1E3A5F"/>
          </a:solidFill>
          <a:ln/>
        </p:spPr>
      </p:sp>
      <p:sp>
        <p:nvSpPr>
          <p:cNvPr id="6" name="Text 4"/>
          <p:cNvSpPr/>
          <p:nvPr/>
        </p:nvSpPr>
        <p:spPr>
          <a:xfrm>
            <a:off x="548640" y="1417320"/>
            <a:ext cx="3484778"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STUDENT MODULE</a:t>
            </a:r>
            <a:endParaRPr lang="en-US" sz="1300" dirty="0"/>
          </a:p>
        </p:txBody>
      </p:sp>
      <p:sp>
        <p:nvSpPr>
          <p:cNvPr id="7" name="Text 5"/>
          <p:cNvSpPr/>
          <p:nvPr/>
        </p:nvSpPr>
        <p:spPr>
          <a:xfrm>
            <a:off x="777240" y="2148840"/>
            <a:ext cx="3027578" cy="365760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Register / Login / Logout</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Report a Lost Item</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Browse &amp; search Found Items</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View own reports; edit or delete them</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View item details, profile &amp; notifications</a:t>
            </a:r>
            <a:endParaRPr lang="en-US" sz="1200" dirty="0"/>
          </a:p>
        </p:txBody>
      </p:sp>
      <p:sp>
        <p:nvSpPr>
          <p:cNvPr id="8" name="Shape 6"/>
          <p:cNvSpPr/>
          <p:nvPr/>
        </p:nvSpPr>
        <p:spPr>
          <a:xfrm>
            <a:off x="4353458" y="1417320"/>
            <a:ext cx="3484778" cy="4572000"/>
          </a:xfrm>
          <a:prstGeom prst="roundRect">
            <a:avLst>
              <a:gd name="adj" fmla="val 2099"/>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9" name="Shape 7"/>
          <p:cNvSpPr/>
          <p:nvPr/>
        </p:nvSpPr>
        <p:spPr>
          <a:xfrm>
            <a:off x="4353458" y="1417320"/>
            <a:ext cx="3484778" cy="502920"/>
          </a:xfrm>
          <a:prstGeom prst="rect">
            <a:avLst/>
          </a:prstGeom>
          <a:solidFill>
            <a:srgbClr val="1E3A5F"/>
          </a:solidFill>
          <a:ln/>
        </p:spPr>
      </p:sp>
      <p:sp>
        <p:nvSpPr>
          <p:cNvPr id="10" name="Text 8"/>
          <p:cNvSpPr/>
          <p:nvPr/>
        </p:nvSpPr>
        <p:spPr>
          <a:xfrm>
            <a:off x="4353458" y="1417320"/>
            <a:ext cx="3484778"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STAFF MODULE</a:t>
            </a:r>
            <a:endParaRPr lang="en-US" sz="1300" dirty="0"/>
          </a:p>
        </p:txBody>
      </p:sp>
      <p:sp>
        <p:nvSpPr>
          <p:cNvPr id="11" name="Text 9"/>
          <p:cNvSpPr/>
          <p:nvPr/>
        </p:nvSpPr>
        <p:spPr>
          <a:xfrm>
            <a:off x="4582058" y="2148840"/>
            <a:ext cx="3027578" cy="365760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Log a Found Item</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Update custody / location information</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Mark an item as Claimed</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Record recipient details (name, contact, enrollment no.)</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Mark an item as Resolved</a:t>
            </a:r>
            <a:endParaRPr lang="en-US" sz="1200" dirty="0"/>
          </a:p>
        </p:txBody>
      </p:sp>
      <p:sp>
        <p:nvSpPr>
          <p:cNvPr id="12" name="Shape 10"/>
          <p:cNvSpPr/>
          <p:nvPr/>
        </p:nvSpPr>
        <p:spPr>
          <a:xfrm>
            <a:off x="8158277" y="1417320"/>
            <a:ext cx="3484778" cy="4572000"/>
          </a:xfrm>
          <a:prstGeom prst="roundRect">
            <a:avLst>
              <a:gd name="adj" fmla="val 2099"/>
            </a:avLst>
          </a:prstGeom>
          <a:solidFill>
            <a:srgbClr val="FFFFFF"/>
          </a:solidFill>
          <a:ln w="12700">
            <a:solidFill>
              <a:srgbClr val="D9E6F5"/>
            </a:solidFill>
            <a:prstDash val="solid"/>
          </a:ln>
          <a:effectLst>
            <a:outerShdw blurRad="76200" dist="25400" dir="5400000" algn="bl" rotWithShape="0">
              <a:srgbClr val="9AA9B8">
                <a:alpha val="25000"/>
              </a:srgbClr>
            </a:outerShdw>
          </a:effectLst>
        </p:spPr>
      </p:sp>
      <p:sp>
        <p:nvSpPr>
          <p:cNvPr id="13" name="Shape 11"/>
          <p:cNvSpPr/>
          <p:nvPr/>
        </p:nvSpPr>
        <p:spPr>
          <a:xfrm>
            <a:off x="8158277" y="1417320"/>
            <a:ext cx="3484778" cy="502920"/>
          </a:xfrm>
          <a:prstGeom prst="rect">
            <a:avLst/>
          </a:prstGeom>
          <a:solidFill>
            <a:srgbClr val="1E3A5F"/>
          </a:solidFill>
          <a:ln/>
        </p:spPr>
      </p:sp>
      <p:sp>
        <p:nvSpPr>
          <p:cNvPr id="14" name="Text 12"/>
          <p:cNvSpPr/>
          <p:nvPr/>
        </p:nvSpPr>
        <p:spPr>
          <a:xfrm>
            <a:off x="8158277" y="1417320"/>
            <a:ext cx="3484778"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ADMIN MODULE</a:t>
            </a:r>
            <a:endParaRPr lang="en-US" sz="1300" dirty="0"/>
          </a:p>
        </p:txBody>
      </p:sp>
      <p:sp>
        <p:nvSpPr>
          <p:cNvPr id="15" name="Text 13"/>
          <p:cNvSpPr/>
          <p:nvPr/>
        </p:nvSpPr>
        <p:spPr>
          <a:xfrm>
            <a:off x="8386877" y="2148840"/>
            <a:ext cx="3027578" cy="365760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Moderate pending posts (approve/reject)</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Manage categories and users</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View dashboard &amp; system statistics</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Manage Found-item handover records</a:t>
            </a:r>
            <a:endParaRPr lang="en-US" sz="1200" dirty="0"/>
          </a:p>
          <a:p>
            <a:pPr marL="228600" indent="-228600" algn="just">
              <a:lnSpc>
                <a:spcPct val="105000"/>
              </a:lnSpc>
              <a:spcAft>
                <a:spcPts val="1000"/>
              </a:spcAft>
              <a:buSzPct val="100000"/>
              <a:buChar char="●"/>
            </a:pPr>
            <a:r>
              <a:rPr lang="en-US" sz="1200" dirty="0">
                <a:solidFill>
                  <a:srgbClr val="25313D"/>
                </a:solidFill>
                <a:latin typeface="Times New Roman" pitchFamily="34" charset="0"/>
                <a:ea typeface="Times New Roman" pitchFamily="34" charset="-122"/>
                <a:cs typeface="Times New Roman" pitchFamily="34" charset="-120"/>
              </a:rPr>
              <a:t>All Staff-level functions, in addition to the above</a:t>
            </a:r>
            <a:endParaRPr lang="en-US" sz="1200" dirty="0"/>
          </a:p>
        </p:txBody>
      </p:sp>
      <p:sp>
        <p:nvSpPr>
          <p:cNvPr id="16" name="Text 14"/>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17" name="Text 15"/>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Functional Requirements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NON-FUNCTIONAL REQUIREMENTS</a:t>
            </a:r>
            <a:endParaRPr lang="en-US" sz="3000" dirty="0"/>
          </a:p>
        </p:txBody>
      </p:sp>
      <p:sp>
        <p:nvSpPr>
          <p:cNvPr id="4" name="Shape 2"/>
          <p:cNvSpPr/>
          <p:nvPr/>
        </p:nvSpPr>
        <p:spPr>
          <a:xfrm>
            <a:off x="548640" y="1490472"/>
            <a:ext cx="146304" cy="146304"/>
          </a:xfrm>
          <a:prstGeom prst="ellipse">
            <a:avLst/>
          </a:prstGeom>
          <a:solidFill>
            <a:srgbClr val="E8A62E"/>
          </a:solidFill>
          <a:ln/>
        </p:spPr>
      </p:sp>
      <p:sp>
        <p:nvSpPr>
          <p:cNvPr id="5" name="Text 3"/>
          <p:cNvSpPr/>
          <p:nvPr/>
        </p:nvSpPr>
        <p:spPr>
          <a:xfrm>
            <a:off x="822960" y="1371600"/>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Security:  </a:t>
            </a:r>
            <a:r>
              <a:rPr lang="en-US" sz="1250" dirty="0">
                <a:solidFill>
                  <a:srgbClr val="25313D"/>
                </a:solidFill>
                <a:latin typeface="Times New Roman" pitchFamily="34" charset="0"/>
                <a:ea typeface="Times New Roman" pitchFamily="34" charset="-122"/>
                <a:cs typeface="Times New Roman" pitchFamily="34" charset="-120"/>
              </a:rPr>
              <a:t>Passwords stored using salted hashing; no plain-text storage</a:t>
            </a:r>
            <a:endParaRPr lang="en-US" sz="1250" dirty="0"/>
          </a:p>
        </p:txBody>
      </p:sp>
      <p:sp>
        <p:nvSpPr>
          <p:cNvPr id="6" name="Shape 4"/>
          <p:cNvSpPr/>
          <p:nvPr/>
        </p:nvSpPr>
        <p:spPr>
          <a:xfrm>
            <a:off x="548640" y="2331720"/>
            <a:ext cx="146304" cy="146304"/>
          </a:xfrm>
          <a:prstGeom prst="ellipse">
            <a:avLst/>
          </a:prstGeom>
          <a:solidFill>
            <a:srgbClr val="E8A62E"/>
          </a:solidFill>
          <a:ln/>
        </p:spPr>
      </p:sp>
      <p:sp>
        <p:nvSpPr>
          <p:cNvPr id="7" name="Text 5"/>
          <p:cNvSpPr/>
          <p:nvPr/>
        </p:nvSpPr>
        <p:spPr>
          <a:xfrm>
            <a:off x="822960" y="2212848"/>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Input Validation:  </a:t>
            </a:r>
            <a:r>
              <a:rPr lang="en-US" sz="1250" dirty="0">
                <a:solidFill>
                  <a:srgbClr val="25313D"/>
                </a:solidFill>
                <a:latin typeface="Times New Roman" pitchFamily="34" charset="0"/>
                <a:ea typeface="Times New Roman" pitchFamily="34" charset="-122"/>
                <a:cs typeface="Times New Roman" pitchFamily="34" charset="-120"/>
              </a:rPr>
              <a:t>All user input validated; parameterised queries to prevent SQL injection</a:t>
            </a:r>
            <a:endParaRPr lang="en-US" sz="1250" dirty="0"/>
          </a:p>
        </p:txBody>
      </p:sp>
      <p:sp>
        <p:nvSpPr>
          <p:cNvPr id="8" name="Shape 6"/>
          <p:cNvSpPr/>
          <p:nvPr/>
        </p:nvSpPr>
        <p:spPr>
          <a:xfrm>
            <a:off x="548640" y="3172968"/>
            <a:ext cx="146304" cy="146304"/>
          </a:xfrm>
          <a:prstGeom prst="ellipse">
            <a:avLst/>
          </a:prstGeom>
          <a:solidFill>
            <a:srgbClr val="E8A62E"/>
          </a:solidFill>
          <a:ln/>
        </p:spPr>
      </p:sp>
      <p:sp>
        <p:nvSpPr>
          <p:cNvPr id="9" name="Text 7"/>
          <p:cNvSpPr/>
          <p:nvPr/>
        </p:nvSpPr>
        <p:spPr>
          <a:xfrm>
            <a:off x="822960" y="3054096"/>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Role-Based Access:  </a:t>
            </a:r>
            <a:r>
              <a:rPr lang="en-US" sz="1250" dirty="0">
                <a:solidFill>
                  <a:srgbClr val="25313D"/>
                </a:solidFill>
                <a:latin typeface="Times New Roman" pitchFamily="34" charset="0"/>
                <a:ea typeface="Times New Roman" pitchFamily="34" charset="-122"/>
                <a:cs typeface="Times New Roman" pitchFamily="34" charset="-120"/>
              </a:rPr>
              <a:t>Staff/Admin-only functions enforced on the server side, not just hidden in the UI</a:t>
            </a:r>
            <a:endParaRPr lang="en-US" sz="1250" dirty="0"/>
          </a:p>
        </p:txBody>
      </p:sp>
      <p:sp>
        <p:nvSpPr>
          <p:cNvPr id="10" name="Shape 8"/>
          <p:cNvSpPr/>
          <p:nvPr/>
        </p:nvSpPr>
        <p:spPr>
          <a:xfrm>
            <a:off x="548640" y="4014216"/>
            <a:ext cx="146304" cy="146304"/>
          </a:xfrm>
          <a:prstGeom prst="ellipse">
            <a:avLst/>
          </a:prstGeom>
          <a:solidFill>
            <a:srgbClr val="E8A62E"/>
          </a:solidFill>
          <a:ln/>
        </p:spPr>
      </p:sp>
      <p:sp>
        <p:nvSpPr>
          <p:cNvPr id="11" name="Text 9"/>
          <p:cNvSpPr/>
          <p:nvPr/>
        </p:nvSpPr>
        <p:spPr>
          <a:xfrm>
            <a:off x="822960" y="3895344"/>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Performance:  </a:t>
            </a:r>
            <a:r>
              <a:rPr lang="en-US" sz="1250" dirty="0">
                <a:solidFill>
                  <a:srgbClr val="25313D"/>
                </a:solidFill>
                <a:latin typeface="Times New Roman" pitchFamily="34" charset="0"/>
                <a:ea typeface="Times New Roman" pitchFamily="34" charset="-122"/>
                <a:cs typeface="Times New Roman" pitchFamily="34" charset="-120"/>
              </a:rPr>
              <a:t>Search and filter operations return results within an acceptable response time</a:t>
            </a:r>
            <a:endParaRPr lang="en-US" sz="1250" dirty="0"/>
          </a:p>
        </p:txBody>
      </p:sp>
      <p:sp>
        <p:nvSpPr>
          <p:cNvPr id="12" name="Shape 10"/>
          <p:cNvSpPr/>
          <p:nvPr/>
        </p:nvSpPr>
        <p:spPr>
          <a:xfrm>
            <a:off x="548640" y="4855464"/>
            <a:ext cx="146304" cy="146304"/>
          </a:xfrm>
          <a:prstGeom prst="ellipse">
            <a:avLst/>
          </a:prstGeom>
          <a:solidFill>
            <a:srgbClr val="E8A62E"/>
          </a:solidFill>
          <a:ln/>
        </p:spPr>
      </p:sp>
      <p:sp>
        <p:nvSpPr>
          <p:cNvPr id="13" name="Text 11"/>
          <p:cNvSpPr/>
          <p:nvPr/>
        </p:nvSpPr>
        <p:spPr>
          <a:xfrm>
            <a:off x="822960" y="4736592"/>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Usability:  </a:t>
            </a:r>
            <a:r>
              <a:rPr lang="en-US" sz="1250" dirty="0">
                <a:solidFill>
                  <a:srgbClr val="25313D"/>
                </a:solidFill>
                <a:latin typeface="Times New Roman" pitchFamily="34" charset="0"/>
                <a:ea typeface="Times New Roman" pitchFamily="34" charset="-122"/>
                <a:cs typeface="Times New Roman" pitchFamily="34" charset="-120"/>
              </a:rPr>
              <a:t>Simple, minimal-step interface for reporting, searching and logging items</a:t>
            </a:r>
            <a:endParaRPr lang="en-US" sz="1250" dirty="0"/>
          </a:p>
        </p:txBody>
      </p:sp>
      <p:sp>
        <p:nvSpPr>
          <p:cNvPr id="14" name="Shape 12"/>
          <p:cNvSpPr/>
          <p:nvPr/>
        </p:nvSpPr>
        <p:spPr>
          <a:xfrm>
            <a:off x="6278728" y="1490472"/>
            <a:ext cx="146304" cy="146304"/>
          </a:xfrm>
          <a:prstGeom prst="ellipse">
            <a:avLst/>
          </a:prstGeom>
          <a:solidFill>
            <a:srgbClr val="E8A62E"/>
          </a:solidFill>
          <a:ln/>
        </p:spPr>
      </p:sp>
      <p:sp>
        <p:nvSpPr>
          <p:cNvPr id="15" name="Text 13"/>
          <p:cNvSpPr/>
          <p:nvPr/>
        </p:nvSpPr>
        <p:spPr>
          <a:xfrm>
            <a:off x="6553048" y="1371600"/>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Responsive Design:  </a:t>
            </a:r>
            <a:r>
              <a:rPr lang="en-US" sz="1250" dirty="0">
                <a:solidFill>
                  <a:srgbClr val="25313D"/>
                </a:solidFill>
                <a:latin typeface="Times New Roman" pitchFamily="34" charset="0"/>
                <a:ea typeface="Times New Roman" pitchFamily="34" charset="-122"/>
                <a:cs typeface="Times New Roman" pitchFamily="34" charset="-120"/>
              </a:rPr>
              <a:t>Usable across desktop, tablet and mobile screen sizes</a:t>
            </a:r>
            <a:endParaRPr lang="en-US" sz="1250" dirty="0"/>
          </a:p>
        </p:txBody>
      </p:sp>
      <p:sp>
        <p:nvSpPr>
          <p:cNvPr id="16" name="Shape 14"/>
          <p:cNvSpPr/>
          <p:nvPr/>
        </p:nvSpPr>
        <p:spPr>
          <a:xfrm>
            <a:off x="6278728" y="2331720"/>
            <a:ext cx="146304" cy="146304"/>
          </a:xfrm>
          <a:prstGeom prst="ellipse">
            <a:avLst/>
          </a:prstGeom>
          <a:solidFill>
            <a:srgbClr val="E8A62E"/>
          </a:solidFill>
          <a:ln/>
        </p:spPr>
      </p:sp>
      <p:sp>
        <p:nvSpPr>
          <p:cNvPr id="17" name="Text 15"/>
          <p:cNvSpPr/>
          <p:nvPr/>
        </p:nvSpPr>
        <p:spPr>
          <a:xfrm>
            <a:off x="6553048" y="2212848"/>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Reliability:  </a:t>
            </a:r>
            <a:r>
              <a:rPr lang="en-US" sz="1250" dirty="0">
                <a:solidFill>
                  <a:srgbClr val="25313D"/>
                </a:solidFill>
                <a:latin typeface="Times New Roman" pitchFamily="34" charset="0"/>
                <a:ea typeface="Times New Roman" pitchFamily="34" charset="-122"/>
                <a:cs typeface="Times New Roman" pitchFamily="34" charset="-120"/>
              </a:rPr>
              <a:t>Item and user records remain consistent during normal operation</a:t>
            </a:r>
            <a:endParaRPr lang="en-US" sz="1250" dirty="0"/>
          </a:p>
        </p:txBody>
      </p:sp>
      <p:sp>
        <p:nvSpPr>
          <p:cNvPr id="18" name="Shape 16"/>
          <p:cNvSpPr/>
          <p:nvPr/>
        </p:nvSpPr>
        <p:spPr>
          <a:xfrm>
            <a:off x="6278728" y="3172968"/>
            <a:ext cx="146304" cy="146304"/>
          </a:xfrm>
          <a:prstGeom prst="ellipse">
            <a:avLst/>
          </a:prstGeom>
          <a:solidFill>
            <a:srgbClr val="E8A62E"/>
          </a:solidFill>
          <a:ln/>
        </p:spPr>
      </p:sp>
      <p:sp>
        <p:nvSpPr>
          <p:cNvPr id="19" name="Text 17"/>
          <p:cNvSpPr/>
          <p:nvPr/>
        </p:nvSpPr>
        <p:spPr>
          <a:xfrm>
            <a:off x="6553048" y="3054096"/>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Session Security:  </a:t>
            </a:r>
            <a:r>
              <a:rPr lang="en-US" sz="1250" dirty="0">
                <a:solidFill>
                  <a:srgbClr val="25313D"/>
                </a:solidFill>
                <a:latin typeface="Times New Roman" pitchFamily="34" charset="0"/>
                <a:ea typeface="Times New Roman" pitchFamily="34" charset="-122"/>
                <a:cs typeface="Times New Roman" pitchFamily="34" charset="-120"/>
              </a:rPr>
              <a:t>Authenticated sessions expire according to a defined session policy</a:t>
            </a:r>
            <a:endParaRPr lang="en-US" sz="1250" dirty="0"/>
          </a:p>
        </p:txBody>
      </p:sp>
      <p:sp>
        <p:nvSpPr>
          <p:cNvPr id="20" name="Shape 18"/>
          <p:cNvSpPr/>
          <p:nvPr/>
        </p:nvSpPr>
        <p:spPr>
          <a:xfrm>
            <a:off x="6278728" y="4014216"/>
            <a:ext cx="146304" cy="146304"/>
          </a:xfrm>
          <a:prstGeom prst="ellipse">
            <a:avLst/>
          </a:prstGeom>
          <a:solidFill>
            <a:srgbClr val="E8A62E"/>
          </a:solidFill>
          <a:ln/>
        </p:spPr>
      </p:sp>
      <p:sp>
        <p:nvSpPr>
          <p:cNvPr id="21" name="Text 19"/>
          <p:cNvSpPr/>
          <p:nvPr/>
        </p:nvSpPr>
        <p:spPr>
          <a:xfrm>
            <a:off x="6553048" y="3895344"/>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File Upload Security:  </a:t>
            </a:r>
            <a:r>
              <a:rPr lang="en-US" sz="1250" dirty="0">
                <a:solidFill>
                  <a:srgbClr val="25313D"/>
                </a:solidFill>
                <a:latin typeface="Times New Roman" pitchFamily="34" charset="0"/>
                <a:ea typeface="Times New Roman" pitchFamily="34" charset="-122"/>
                <a:cs typeface="Times New Roman" pitchFamily="34" charset="-120"/>
              </a:rPr>
              <a:t>Image uploads restricted to supported formats and a safe file-size limit</a:t>
            </a:r>
            <a:endParaRPr lang="en-US" sz="1250" dirty="0"/>
          </a:p>
        </p:txBody>
      </p:sp>
      <p:sp>
        <p:nvSpPr>
          <p:cNvPr id="22" name="Shape 20"/>
          <p:cNvSpPr/>
          <p:nvPr/>
        </p:nvSpPr>
        <p:spPr>
          <a:xfrm>
            <a:off x="6278728" y="4855464"/>
            <a:ext cx="146304" cy="146304"/>
          </a:xfrm>
          <a:prstGeom prst="ellipse">
            <a:avLst/>
          </a:prstGeom>
          <a:solidFill>
            <a:srgbClr val="E8A62E"/>
          </a:solidFill>
          <a:ln/>
        </p:spPr>
      </p:sp>
      <p:sp>
        <p:nvSpPr>
          <p:cNvPr id="23" name="Text 21"/>
          <p:cNvSpPr/>
          <p:nvPr/>
        </p:nvSpPr>
        <p:spPr>
          <a:xfrm>
            <a:off x="6553048" y="4736592"/>
            <a:ext cx="5090008" cy="777240"/>
          </a:xfrm>
          <a:prstGeom prst="rect">
            <a:avLst/>
          </a:prstGeom>
          <a:noFill/>
          <a:ln/>
        </p:spPr>
        <p:txBody>
          <a:bodyPr wrap="square" lIns="0" tIns="0" rIns="0" bIns="0" rtlCol="0" anchor="t"/>
          <a:lstStyle/>
          <a:p>
            <a:pPr marL="0" indent="0" algn="just">
              <a:lnSpc>
                <a:spcPct val="110000"/>
              </a:lnSpc>
              <a:buNone/>
            </a:pPr>
            <a:r>
              <a:rPr lang="en-US" sz="1250" b="1" dirty="0">
                <a:solidFill>
                  <a:srgbClr val="1E3A5F"/>
                </a:solidFill>
                <a:latin typeface="Times New Roman" pitchFamily="34" charset="0"/>
                <a:ea typeface="Times New Roman" pitchFamily="34" charset="-122"/>
                <a:cs typeface="Times New Roman" pitchFamily="34" charset="-120"/>
              </a:rPr>
              <a:t>Scalability:  </a:t>
            </a:r>
            <a:r>
              <a:rPr lang="en-US" sz="1250" dirty="0">
                <a:solidFill>
                  <a:srgbClr val="25313D"/>
                </a:solidFill>
                <a:latin typeface="Times New Roman" pitchFamily="34" charset="0"/>
                <a:ea typeface="Times New Roman" pitchFamily="34" charset="-122"/>
                <a:cs typeface="Times New Roman" pitchFamily="34" charset="-120"/>
              </a:rPr>
              <a:t>Database can accommodate growing users and item records without redesign</a:t>
            </a:r>
            <a:endParaRPr lang="en-US" sz="1250" dirty="0"/>
          </a:p>
        </p:txBody>
      </p:sp>
      <p:sp>
        <p:nvSpPr>
          <p:cNvPr id="24" name="Text 22"/>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25" name="Text 23"/>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Non-Functional Requirements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PROTOTYPE DEMONSTRATION</a:t>
            </a:r>
            <a:endParaRPr lang="en-US" sz="3000" dirty="0"/>
          </a:p>
        </p:txBody>
      </p:sp>
      <p:sp>
        <p:nvSpPr>
          <p:cNvPr id="4" name="Text 2"/>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Progress completed so far in Figma</a:t>
            </a:r>
            <a:endParaRPr lang="en-US" sz="1400" dirty="0"/>
          </a:p>
        </p:txBody>
      </p:sp>
      <p:sp>
        <p:nvSpPr>
          <p:cNvPr id="5" name="Text 3"/>
          <p:cNvSpPr/>
          <p:nvPr/>
        </p:nvSpPr>
        <p:spPr>
          <a:xfrm>
            <a:off x="548640" y="1417320"/>
            <a:ext cx="5486400"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COMPLETED</a:t>
            </a:r>
            <a:endParaRPr lang="en-US" sz="1300" dirty="0"/>
          </a:p>
        </p:txBody>
      </p:sp>
      <p:sp>
        <p:nvSpPr>
          <p:cNvPr id="6" name="Text 4"/>
          <p:cNvSpPr/>
          <p:nvPr/>
        </p:nvSpPr>
        <p:spPr>
          <a:xfrm>
            <a:off x="548640" y="1783080"/>
            <a:ext cx="5486400" cy="237744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Authentication flow - Landing, Login, Register, Registration Success</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Student Dashboard with quick access to all major actions</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Report Lost Item form</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My Reports - list view, report details and delete confirmation</a:t>
            </a:r>
            <a:endParaRPr lang="en-US" sz="1250" dirty="0"/>
          </a:p>
        </p:txBody>
      </p:sp>
      <p:sp>
        <p:nvSpPr>
          <p:cNvPr id="7" name="Text 5"/>
          <p:cNvSpPr/>
          <p:nvPr/>
        </p:nvSpPr>
        <p:spPr>
          <a:xfrm>
            <a:off x="548640" y="4160520"/>
            <a:ext cx="5486400"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IN PROGRESS / PLANNED</a:t>
            </a:r>
            <a:endParaRPr lang="en-US" sz="1300" dirty="0"/>
          </a:p>
        </p:txBody>
      </p:sp>
      <p:sp>
        <p:nvSpPr>
          <p:cNvPr id="8" name="Text 6"/>
          <p:cNvSpPr/>
          <p:nvPr/>
        </p:nvSpPr>
        <p:spPr>
          <a:xfrm>
            <a:off x="548640" y="4526280"/>
            <a:ext cx="5486400" cy="1554480"/>
          </a:xfrm>
          <a:prstGeom prst="rect">
            <a:avLst/>
          </a:prstGeom>
          <a:noFill/>
          <a:ln/>
        </p:spPr>
        <p:txBody>
          <a:bodyPr wrap="square" lIns="0" tIns="0" rIns="0" bIns="0" rtlCol="0" anchor="t"/>
          <a:lstStyle/>
          <a:p>
            <a:pPr marL="228600" indent="-228600" algn="just">
              <a:lnSpc>
                <a:spcPct val="105000"/>
              </a:lnSpc>
              <a:spcAft>
                <a:spcPts val="1000"/>
              </a:spcAft>
              <a:buSzPct val="100000"/>
              <a:buFontTx/>
              <a:buChar char="●"/>
            </a:pPr>
            <a:r>
              <a:rPr lang="en-US" sz="1250" dirty="0">
                <a:solidFill>
                  <a:srgbClr val="25313D"/>
                </a:solidFill>
                <a:latin typeface="Times New Roman" pitchFamily="34" charset="0"/>
                <a:ea typeface="Times New Roman" pitchFamily="34" charset="-122"/>
                <a:cs typeface="Times New Roman" pitchFamily="34" charset="-120"/>
              </a:rPr>
              <a:t>Browse Found Items - listing and item-detail view</a:t>
            </a:r>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Staff Module screens - Log Found Item, custody management, handover</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Admin Module screens - dashboard, moderation, category &amp; user management</a:t>
            </a:r>
            <a:endParaRPr lang="en-US" sz="1250" dirty="0"/>
          </a:p>
          <a:p>
            <a:pPr marL="228600" indent="-228600" algn="just">
              <a:lnSpc>
                <a:spcPct val="105000"/>
              </a:lnSpc>
              <a:spcAft>
                <a:spcPts val="1000"/>
              </a:spcAft>
              <a:buSzPct val="100000"/>
              <a:buChar char="●"/>
            </a:pPr>
            <a:r>
              <a:rPr lang="en-US" sz="1250" dirty="0">
                <a:solidFill>
                  <a:srgbClr val="25313D"/>
                </a:solidFill>
                <a:latin typeface="Times New Roman" pitchFamily="34" charset="0"/>
                <a:ea typeface="Times New Roman" pitchFamily="34" charset="-122"/>
                <a:cs typeface="Times New Roman" pitchFamily="34" charset="-120"/>
              </a:rPr>
              <a:t>Linking all screens together as one connected, clickable Figma prototype</a:t>
            </a:r>
          </a:p>
          <a:p>
            <a:pPr algn="just">
              <a:lnSpc>
                <a:spcPct val="105000"/>
              </a:lnSpc>
              <a:spcAft>
                <a:spcPts val="1000"/>
              </a:spcAft>
              <a:buSzPct val="100000"/>
            </a:pPr>
            <a:endParaRPr lang="en-US" sz="1250" dirty="0"/>
          </a:p>
        </p:txBody>
      </p:sp>
      <p:sp>
        <p:nvSpPr>
          <p:cNvPr id="9" name="Shape 7"/>
          <p:cNvSpPr/>
          <p:nvPr/>
        </p:nvSpPr>
        <p:spPr>
          <a:xfrm>
            <a:off x="6241110" y="1499616"/>
            <a:ext cx="5148072" cy="3803904"/>
          </a:xfrm>
          <a:prstGeom prst="roundRect">
            <a:avLst>
              <a:gd name="adj" fmla="val 1176"/>
            </a:avLst>
          </a:prstGeom>
          <a:blipFill dpi="0" rotWithShape="1">
            <a:blip r:embed="rId3">
              <a:extLst>
                <a:ext uri="{28A0092B-C50C-407E-A947-70E740481C1C}">
                  <a14:useLocalDpi xmlns:a14="http://schemas.microsoft.com/office/drawing/2010/main" val="0"/>
                </a:ext>
              </a:extLst>
            </a:blip>
            <a:srcRect/>
            <a:stretch>
              <a:fillRect/>
            </a:stretch>
          </a:blipFill>
          <a:ln w="15875">
            <a:solidFill>
              <a:srgbClr val="1E3A5F"/>
            </a:solidFill>
            <a:prstDash val="dash"/>
          </a:ln>
        </p:spPr>
      </p:sp>
      <p:sp>
        <p:nvSpPr>
          <p:cNvPr id="11" name="Text 9"/>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12" name="Text 10"/>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Prototype Demonstration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AF2F22D-BAC2-706B-08AE-E099EF80417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D6DAC1B-208D-4793-42FE-BD1BEEE4585F}"/>
              </a:ext>
            </a:extLst>
          </p:cNvPr>
          <p:cNvSpPr/>
          <p:nvPr/>
        </p:nvSpPr>
        <p:spPr>
          <a:xfrm>
            <a:off x="548640" y="475488"/>
            <a:ext cx="146304" cy="146304"/>
          </a:xfrm>
          <a:prstGeom prst="ellipse">
            <a:avLst/>
          </a:prstGeom>
          <a:solidFill>
            <a:srgbClr val="E8A62E"/>
          </a:solidFill>
          <a:ln/>
        </p:spPr>
      </p:sp>
      <p:sp>
        <p:nvSpPr>
          <p:cNvPr id="3" name="Text 1">
            <a:extLst>
              <a:ext uri="{FF2B5EF4-FFF2-40B4-BE49-F238E27FC236}">
                <a16:creationId xmlns:a16="http://schemas.microsoft.com/office/drawing/2014/main" id="{4C8C14AE-D6E2-2E85-A7E4-D24C05C09402}"/>
              </a:ext>
            </a:extLst>
          </p:cNvPr>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PROTOTYPE DEMONSTRATION</a:t>
            </a:r>
            <a:endParaRPr lang="en-US" sz="3000" dirty="0"/>
          </a:p>
        </p:txBody>
      </p:sp>
      <p:sp>
        <p:nvSpPr>
          <p:cNvPr id="4" name="Text 2">
            <a:extLst>
              <a:ext uri="{FF2B5EF4-FFF2-40B4-BE49-F238E27FC236}">
                <a16:creationId xmlns:a16="http://schemas.microsoft.com/office/drawing/2014/main" id="{1AB03EB6-939F-4D1B-145A-C784ADFBC34D}"/>
              </a:ext>
            </a:extLst>
          </p:cNvPr>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Progress completed so far in Figma</a:t>
            </a:r>
            <a:endParaRPr lang="en-US" sz="1400" dirty="0"/>
          </a:p>
        </p:txBody>
      </p:sp>
      <p:sp>
        <p:nvSpPr>
          <p:cNvPr id="9" name="Shape 7">
            <a:extLst>
              <a:ext uri="{FF2B5EF4-FFF2-40B4-BE49-F238E27FC236}">
                <a16:creationId xmlns:a16="http://schemas.microsoft.com/office/drawing/2014/main" id="{C28410EA-46C4-2D97-6B76-D76BBE496CEE}"/>
              </a:ext>
            </a:extLst>
          </p:cNvPr>
          <p:cNvSpPr/>
          <p:nvPr/>
        </p:nvSpPr>
        <p:spPr>
          <a:xfrm>
            <a:off x="6492240" y="1417320"/>
            <a:ext cx="5150815" cy="3803904"/>
          </a:xfrm>
          <a:prstGeom prst="roundRect">
            <a:avLst>
              <a:gd name="adj" fmla="val 1176"/>
            </a:avLst>
          </a:prstGeom>
          <a:blipFill dpi="0" rotWithShape="1">
            <a:blip r:embed="rId3">
              <a:extLst>
                <a:ext uri="{28A0092B-C50C-407E-A947-70E740481C1C}">
                  <a14:useLocalDpi xmlns:a14="http://schemas.microsoft.com/office/drawing/2010/main" val="0"/>
                </a:ext>
              </a:extLst>
            </a:blip>
            <a:srcRect/>
            <a:stretch>
              <a:fillRect/>
            </a:stretch>
          </a:blipFill>
          <a:ln w="15875">
            <a:solidFill>
              <a:srgbClr val="1E3A5F"/>
            </a:solidFill>
            <a:prstDash val="dash"/>
          </a:ln>
        </p:spPr>
      </p:sp>
      <p:sp>
        <p:nvSpPr>
          <p:cNvPr id="11" name="Text 9">
            <a:extLst>
              <a:ext uri="{FF2B5EF4-FFF2-40B4-BE49-F238E27FC236}">
                <a16:creationId xmlns:a16="http://schemas.microsoft.com/office/drawing/2014/main" id="{C5F97C59-9815-BD7E-B032-F0FBEF8F9769}"/>
              </a:ext>
            </a:extLst>
          </p:cNvPr>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12" name="Text 10">
            <a:extLst>
              <a:ext uri="{FF2B5EF4-FFF2-40B4-BE49-F238E27FC236}">
                <a16:creationId xmlns:a16="http://schemas.microsoft.com/office/drawing/2014/main" id="{9C07CE0A-12D5-39A5-DD63-2301A3C9E33C}"/>
              </a:ext>
            </a:extLst>
          </p:cNvPr>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Prototype Demonstration</a:t>
            </a:r>
            <a:endParaRPr lang="en-US" sz="1000" dirty="0"/>
          </a:p>
        </p:txBody>
      </p:sp>
      <p:sp>
        <p:nvSpPr>
          <p:cNvPr id="15" name="Shape 7">
            <a:extLst>
              <a:ext uri="{FF2B5EF4-FFF2-40B4-BE49-F238E27FC236}">
                <a16:creationId xmlns:a16="http://schemas.microsoft.com/office/drawing/2014/main" id="{DC46FC99-208C-00DA-318B-4B3F7CDA8F73}"/>
              </a:ext>
            </a:extLst>
          </p:cNvPr>
          <p:cNvSpPr/>
          <p:nvPr/>
        </p:nvSpPr>
        <p:spPr>
          <a:xfrm>
            <a:off x="853429" y="1425342"/>
            <a:ext cx="5150815" cy="3803904"/>
          </a:xfrm>
          <a:prstGeom prst="roundRect">
            <a:avLst>
              <a:gd name="adj" fmla="val 1176"/>
            </a:avLst>
          </a:prstGeom>
          <a:blipFill dpi="0" rotWithShape="1">
            <a:blip r:embed="rId4">
              <a:extLst>
                <a:ext uri="{28A0092B-C50C-407E-A947-70E740481C1C}">
                  <a14:useLocalDpi xmlns:a14="http://schemas.microsoft.com/office/drawing/2010/main" val="0"/>
                </a:ext>
              </a:extLst>
            </a:blip>
            <a:srcRect/>
            <a:stretch>
              <a:fillRect/>
            </a:stretch>
          </a:blipFill>
          <a:ln w="15875">
            <a:solidFill>
              <a:srgbClr val="1E3A5F"/>
            </a:solidFill>
            <a:prstDash val="dash"/>
          </a:ln>
        </p:spPr>
      </p:sp>
    </p:spTree>
    <p:extLst>
      <p:ext uri="{BB962C8B-B14F-4D97-AF65-F5344CB8AC3E}">
        <p14:creationId xmlns:p14="http://schemas.microsoft.com/office/powerpoint/2010/main" val="3744817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A465C39-BFE3-F4D1-BE5C-7DBDD0512F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104AA1-0A56-5F86-265B-370905C8055F}"/>
              </a:ext>
            </a:extLst>
          </p:cNvPr>
          <p:cNvSpPr/>
          <p:nvPr/>
        </p:nvSpPr>
        <p:spPr>
          <a:xfrm>
            <a:off x="548640" y="475488"/>
            <a:ext cx="146304" cy="146304"/>
          </a:xfrm>
          <a:prstGeom prst="ellipse">
            <a:avLst/>
          </a:prstGeom>
          <a:solidFill>
            <a:srgbClr val="E8A62E"/>
          </a:solidFill>
          <a:ln/>
        </p:spPr>
      </p:sp>
      <p:sp>
        <p:nvSpPr>
          <p:cNvPr id="3" name="Text 1">
            <a:extLst>
              <a:ext uri="{FF2B5EF4-FFF2-40B4-BE49-F238E27FC236}">
                <a16:creationId xmlns:a16="http://schemas.microsoft.com/office/drawing/2014/main" id="{645B1E9D-BACC-5F6D-9C60-25ED21AD0AFF}"/>
              </a:ext>
            </a:extLst>
          </p:cNvPr>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PROTOTYPE DEMONSTRATION</a:t>
            </a:r>
            <a:endParaRPr lang="en-US" sz="3000" dirty="0"/>
          </a:p>
        </p:txBody>
      </p:sp>
      <p:sp>
        <p:nvSpPr>
          <p:cNvPr id="4" name="Text 2">
            <a:extLst>
              <a:ext uri="{FF2B5EF4-FFF2-40B4-BE49-F238E27FC236}">
                <a16:creationId xmlns:a16="http://schemas.microsoft.com/office/drawing/2014/main" id="{2D0DE2EF-28C7-189E-9C67-FF69BE097FF6}"/>
              </a:ext>
            </a:extLst>
          </p:cNvPr>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Progress completed so far in Figma</a:t>
            </a:r>
            <a:endParaRPr lang="en-US" sz="1400" dirty="0"/>
          </a:p>
        </p:txBody>
      </p:sp>
      <p:sp>
        <p:nvSpPr>
          <p:cNvPr id="9" name="Shape 7">
            <a:extLst>
              <a:ext uri="{FF2B5EF4-FFF2-40B4-BE49-F238E27FC236}">
                <a16:creationId xmlns:a16="http://schemas.microsoft.com/office/drawing/2014/main" id="{6036636B-721A-3B58-82B4-4B40BCC9ECDD}"/>
              </a:ext>
            </a:extLst>
          </p:cNvPr>
          <p:cNvSpPr/>
          <p:nvPr/>
        </p:nvSpPr>
        <p:spPr>
          <a:xfrm>
            <a:off x="6492240" y="1417320"/>
            <a:ext cx="5150815" cy="3804385"/>
          </a:xfrm>
          <a:prstGeom prst="roundRect">
            <a:avLst>
              <a:gd name="adj" fmla="val 1176"/>
            </a:avLst>
          </a:prstGeom>
          <a:blipFill dpi="0" rotWithShape="1">
            <a:blip r:embed="rId3">
              <a:extLst>
                <a:ext uri="{28A0092B-C50C-407E-A947-70E740481C1C}">
                  <a14:useLocalDpi xmlns:a14="http://schemas.microsoft.com/office/drawing/2010/main" val="0"/>
                </a:ext>
              </a:extLst>
            </a:blip>
            <a:srcRect/>
            <a:stretch>
              <a:fillRect/>
            </a:stretch>
          </a:blipFill>
          <a:ln w="15875">
            <a:solidFill>
              <a:srgbClr val="1E3A5F"/>
            </a:solidFill>
            <a:prstDash val="dash"/>
          </a:ln>
        </p:spPr>
      </p:sp>
      <p:sp>
        <p:nvSpPr>
          <p:cNvPr id="11" name="Text 9">
            <a:extLst>
              <a:ext uri="{FF2B5EF4-FFF2-40B4-BE49-F238E27FC236}">
                <a16:creationId xmlns:a16="http://schemas.microsoft.com/office/drawing/2014/main" id="{19AACCB5-C506-E7EE-49FA-E77FBBAD2527}"/>
              </a:ext>
            </a:extLst>
          </p:cNvPr>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12" name="Text 10">
            <a:extLst>
              <a:ext uri="{FF2B5EF4-FFF2-40B4-BE49-F238E27FC236}">
                <a16:creationId xmlns:a16="http://schemas.microsoft.com/office/drawing/2014/main" id="{97CBBFD5-357C-718A-E0BA-C8BC2D1B7CD5}"/>
              </a:ext>
            </a:extLst>
          </p:cNvPr>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Prototype Demonstration</a:t>
            </a:r>
            <a:endParaRPr lang="en-US" sz="1000" dirty="0"/>
          </a:p>
        </p:txBody>
      </p:sp>
      <p:sp>
        <p:nvSpPr>
          <p:cNvPr id="15" name="Shape 7">
            <a:extLst>
              <a:ext uri="{FF2B5EF4-FFF2-40B4-BE49-F238E27FC236}">
                <a16:creationId xmlns:a16="http://schemas.microsoft.com/office/drawing/2014/main" id="{9A7285A5-E7BA-59A0-DD64-EA9773B5FF44}"/>
              </a:ext>
            </a:extLst>
          </p:cNvPr>
          <p:cNvSpPr/>
          <p:nvPr/>
        </p:nvSpPr>
        <p:spPr>
          <a:xfrm>
            <a:off x="853429" y="1425341"/>
            <a:ext cx="5150815" cy="3803904"/>
          </a:xfrm>
          <a:prstGeom prst="roundRect">
            <a:avLst>
              <a:gd name="adj" fmla="val 1176"/>
            </a:avLst>
          </a:prstGeom>
          <a:blipFill dpi="0" rotWithShape="1">
            <a:blip r:embed="rId4">
              <a:extLst>
                <a:ext uri="{28A0092B-C50C-407E-A947-70E740481C1C}">
                  <a14:useLocalDpi xmlns:a14="http://schemas.microsoft.com/office/drawing/2010/main" val="0"/>
                </a:ext>
              </a:extLst>
            </a:blip>
            <a:srcRect/>
            <a:stretch>
              <a:fillRect/>
            </a:stretch>
          </a:blipFill>
          <a:ln w="15875">
            <a:solidFill>
              <a:srgbClr val="1E3A5F"/>
            </a:solidFill>
            <a:prstDash val="dash"/>
          </a:ln>
        </p:spPr>
      </p:sp>
    </p:spTree>
    <p:extLst>
      <p:ext uri="{BB962C8B-B14F-4D97-AF65-F5344CB8AC3E}">
        <p14:creationId xmlns:p14="http://schemas.microsoft.com/office/powerpoint/2010/main" val="445271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5D626E1-0985-741C-B18F-777F85EFBF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283E25-C983-D1D9-F2DD-00BBE05E85E1}"/>
              </a:ext>
            </a:extLst>
          </p:cNvPr>
          <p:cNvSpPr/>
          <p:nvPr/>
        </p:nvSpPr>
        <p:spPr>
          <a:xfrm>
            <a:off x="548640" y="475488"/>
            <a:ext cx="146304" cy="146304"/>
          </a:xfrm>
          <a:prstGeom prst="ellipse">
            <a:avLst/>
          </a:prstGeom>
          <a:solidFill>
            <a:srgbClr val="E8A62E"/>
          </a:solidFill>
          <a:ln/>
        </p:spPr>
      </p:sp>
      <p:sp>
        <p:nvSpPr>
          <p:cNvPr id="3" name="Text 1">
            <a:extLst>
              <a:ext uri="{FF2B5EF4-FFF2-40B4-BE49-F238E27FC236}">
                <a16:creationId xmlns:a16="http://schemas.microsoft.com/office/drawing/2014/main" id="{FC30DE21-D011-B4E1-E14A-7F5FDFAAF2B8}"/>
              </a:ext>
            </a:extLst>
          </p:cNvPr>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PROTOTYPE DEMONSTRATION</a:t>
            </a:r>
            <a:endParaRPr lang="en-US" sz="3000" dirty="0"/>
          </a:p>
        </p:txBody>
      </p:sp>
      <p:sp>
        <p:nvSpPr>
          <p:cNvPr id="4" name="Text 2">
            <a:extLst>
              <a:ext uri="{FF2B5EF4-FFF2-40B4-BE49-F238E27FC236}">
                <a16:creationId xmlns:a16="http://schemas.microsoft.com/office/drawing/2014/main" id="{59F450DA-B1B1-2C29-FF71-F24DEED267B6}"/>
              </a:ext>
            </a:extLst>
          </p:cNvPr>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Progress completed so far in Figma</a:t>
            </a:r>
            <a:endParaRPr lang="en-US" sz="1400" dirty="0"/>
          </a:p>
        </p:txBody>
      </p:sp>
      <p:sp>
        <p:nvSpPr>
          <p:cNvPr id="9" name="Shape 7">
            <a:extLst>
              <a:ext uri="{FF2B5EF4-FFF2-40B4-BE49-F238E27FC236}">
                <a16:creationId xmlns:a16="http://schemas.microsoft.com/office/drawing/2014/main" id="{55ED5917-492E-5901-8D64-05A173CA9877}"/>
              </a:ext>
            </a:extLst>
          </p:cNvPr>
          <p:cNvSpPr/>
          <p:nvPr/>
        </p:nvSpPr>
        <p:spPr>
          <a:xfrm>
            <a:off x="6492240" y="1417320"/>
            <a:ext cx="5150815" cy="3804385"/>
          </a:xfrm>
          <a:prstGeom prst="roundRect">
            <a:avLst>
              <a:gd name="adj" fmla="val 1176"/>
            </a:avLst>
          </a:prstGeom>
          <a:blipFill dpi="0" rotWithShape="1">
            <a:blip r:embed="rId3">
              <a:extLst>
                <a:ext uri="{28A0092B-C50C-407E-A947-70E740481C1C}">
                  <a14:useLocalDpi xmlns:a14="http://schemas.microsoft.com/office/drawing/2010/main" val="0"/>
                </a:ext>
              </a:extLst>
            </a:blip>
            <a:srcRect/>
            <a:stretch>
              <a:fillRect/>
            </a:stretch>
          </a:blipFill>
          <a:ln w="15875">
            <a:solidFill>
              <a:srgbClr val="1E3A5F"/>
            </a:solidFill>
            <a:prstDash val="dash"/>
          </a:ln>
        </p:spPr>
      </p:sp>
      <p:sp>
        <p:nvSpPr>
          <p:cNvPr id="11" name="Text 9">
            <a:extLst>
              <a:ext uri="{FF2B5EF4-FFF2-40B4-BE49-F238E27FC236}">
                <a16:creationId xmlns:a16="http://schemas.microsoft.com/office/drawing/2014/main" id="{8A852808-53A5-08FB-97DC-CEA6CABBEF0C}"/>
              </a:ext>
            </a:extLst>
          </p:cNvPr>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12" name="Text 10">
            <a:extLst>
              <a:ext uri="{FF2B5EF4-FFF2-40B4-BE49-F238E27FC236}">
                <a16:creationId xmlns:a16="http://schemas.microsoft.com/office/drawing/2014/main" id="{B88D82AD-11BF-FE8C-B507-29B4CD7F2F31}"/>
              </a:ext>
            </a:extLst>
          </p:cNvPr>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Prototype Demonstration</a:t>
            </a:r>
            <a:endParaRPr lang="en-US" sz="1000" dirty="0"/>
          </a:p>
        </p:txBody>
      </p:sp>
      <p:sp>
        <p:nvSpPr>
          <p:cNvPr id="15" name="Shape 7">
            <a:extLst>
              <a:ext uri="{FF2B5EF4-FFF2-40B4-BE49-F238E27FC236}">
                <a16:creationId xmlns:a16="http://schemas.microsoft.com/office/drawing/2014/main" id="{4A71A875-697A-938A-3ABC-762586720C57}"/>
              </a:ext>
            </a:extLst>
          </p:cNvPr>
          <p:cNvSpPr/>
          <p:nvPr/>
        </p:nvSpPr>
        <p:spPr>
          <a:xfrm>
            <a:off x="853429" y="1425342"/>
            <a:ext cx="5150815" cy="3796363"/>
          </a:xfrm>
          <a:prstGeom prst="roundRect">
            <a:avLst>
              <a:gd name="adj" fmla="val 1176"/>
            </a:avLst>
          </a:prstGeom>
          <a:blipFill dpi="0" rotWithShape="1">
            <a:blip r:embed="rId4">
              <a:extLst>
                <a:ext uri="{28A0092B-C50C-407E-A947-70E740481C1C}">
                  <a14:useLocalDpi xmlns:a14="http://schemas.microsoft.com/office/drawing/2010/main" val="0"/>
                </a:ext>
              </a:extLst>
            </a:blip>
            <a:srcRect/>
            <a:stretch>
              <a:fillRect/>
            </a:stretch>
          </a:blipFill>
          <a:ln w="15875">
            <a:solidFill>
              <a:srgbClr val="1E3A5F"/>
            </a:solidFill>
            <a:prstDash val="dash"/>
          </a:ln>
        </p:spPr>
      </p:sp>
    </p:spTree>
    <p:extLst>
      <p:ext uri="{BB962C8B-B14F-4D97-AF65-F5344CB8AC3E}">
        <p14:creationId xmlns:p14="http://schemas.microsoft.com/office/powerpoint/2010/main" val="1966624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B9FA1B6-5E9A-2A74-ECAB-A221DF6ECED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C367BF-1851-1613-2496-404C39434D43}"/>
              </a:ext>
            </a:extLst>
          </p:cNvPr>
          <p:cNvSpPr/>
          <p:nvPr/>
        </p:nvSpPr>
        <p:spPr>
          <a:xfrm>
            <a:off x="548640" y="475488"/>
            <a:ext cx="146304" cy="146304"/>
          </a:xfrm>
          <a:prstGeom prst="ellipse">
            <a:avLst/>
          </a:prstGeom>
          <a:solidFill>
            <a:srgbClr val="E8A62E"/>
          </a:solidFill>
          <a:ln/>
        </p:spPr>
      </p:sp>
      <p:sp>
        <p:nvSpPr>
          <p:cNvPr id="3" name="Text 1">
            <a:extLst>
              <a:ext uri="{FF2B5EF4-FFF2-40B4-BE49-F238E27FC236}">
                <a16:creationId xmlns:a16="http://schemas.microsoft.com/office/drawing/2014/main" id="{88634AE8-50BB-E200-4A15-71621B8B58BF}"/>
              </a:ext>
            </a:extLst>
          </p:cNvPr>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PROTOTYPE DEMONSTRATION</a:t>
            </a:r>
            <a:endParaRPr lang="en-US" sz="3000" dirty="0"/>
          </a:p>
        </p:txBody>
      </p:sp>
      <p:sp>
        <p:nvSpPr>
          <p:cNvPr id="4" name="Text 2">
            <a:extLst>
              <a:ext uri="{FF2B5EF4-FFF2-40B4-BE49-F238E27FC236}">
                <a16:creationId xmlns:a16="http://schemas.microsoft.com/office/drawing/2014/main" id="{6255F0A7-5402-0944-CEB1-8EB23422B367}"/>
              </a:ext>
            </a:extLst>
          </p:cNvPr>
          <p:cNvSpPr/>
          <p:nvPr/>
        </p:nvSpPr>
        <p:spPr>
          <a:xfrm>
            <a:off x="841248" y="868680"/>
            <a:ext cx="10801807" cy="365760"/>
          </a:xfrm>
          <a:prstGeom prst="rect">
            <a:avLst/>
          </a:prstGeom>
          <a:noFill/>
          <a:ln/>
        </p:spPr>
        <p:txBody>
          <a:bodyPr wrap="square" lIns="0" tIns="0" rIns="0" bIns="0" rtlCol="0" anchor="ctr"/>
          <a:lstStyle/>
          <a:p>
            <a:pPr marL="0" indent="0" algn="l">
              <a:buNone/>
            </a:pPr>
            <a:r>
              <a:rPr lang="en-US" sz="1400" i="1" dirty="0">
                <a:solidFill>
                  <a:srgbClr val="5B6B79"/>
                </a:solidFill>
                <a:latin typeface="Times New Roman" pitchFamily="34" charset="0"/>
                <a:ea typeface="Times New Roman" pitchFamily="34" charset="-122"/>
                <a:cs typeface="Times New Roman" pitchFamily="34" charset="-120"/>
              </a:rPr>
              <a:t>Progress completed so far in Figma</a:t>
            </a:r>
            <a:endParaRPr lang="en-US" sz="1400" dirty="0"/>
          </a:p>
        </p:txBody>
      </p:sp>
      <p:sp>
        <p:nvSpPr>
          <p:cNvPr id="9" name="Shape 7">
            <a:extLst>
              <a:ext uri="{FF2B5EF4-FFF2-40B4-BE49-F238E27FC236}">
                <a16:creationId xmlns:a16="http://schemas.microsoft.com/office/drawing/2014/main" id="{EDEB41C2-70A4-F081-596E-52BF41743926}"/>
              </a:ext>
            </a:extLst>
          </p:cNvPr>
          <p:cNvSpPr/>
          <p:nvPr/>
        </p:nvSpPr>
        <p:spPr>
          <a:xfrm>
            <a:off x="6492240" y="1417320"/>
            <a:ext cx="5150815" cy="3804385"/>
          </a:xfrm>
          <a:prstGeom prst="roundRect">
            <a:avLst>
              <a:gd name="adj" fmla="val 1176"/>
            </a:avLst>
          </a:prstGeom>
          <a:blipFill dpi="0" rotWithShape="1">
            <a:blip r:embed="rId3">
              <a:extLst>
                <a:ext uri="{28A0092B-C50C-407E-A947-70E740481C1C}">
                  <a14:useLocalDpi xmlns:a14="http://schemas.microsoft.com/office/drawing/2010/main" val="0"/>
                </a:ext>
              </a:extLst>
            </a:blip>
            <a:srcRect/>
            <a:stretch>
              <a:fillRect/>
            </a:stretch>
          </a:blipFill>
          <a:ln w="15875">
            <a:solidFill>
              <a:srgbClr val="1E3A5F"/>
            </a:solidFill>
            <a:prstDash val="dash"/>
          </a:ln>
        </p:spPr>
      </p:sp>
      <p:sp>
        <p:nvSpPr>
          <p:cNvPr id="11" name="Text 9">
            <a:extLst>
              <a:ext uri="{FF2B5EF4-FFF2-40B4-BE49-F238E27FC236}">
                <a16:creationId xmlns:a16="http://schemas.microsoft.com/office/drawing/2014/main" id="{4E26933A-BC27-AC9B-1888-25756C5D675D}"/>
              </a:ext>
            </a:extLst>
          </p:cNvPr>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12" name="Text 10">
            <a:extLst>
              <a:ext uri="{FF2B5EF4-FFF2-40B4-BE49-F238E27FC236}">
                <a16:creationId xmlns:a16="http://schemas.microsoft.com/office/drawing/2014/main" id="{559E07F3-4C26-AB81-069C-85A269338F61}"/>
              </a:ext>
            </a:extLst>
          </p:cNvPr>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Prototype Demonstration</a:t>
            </a:r>
            <a:endParaRPr lang="en-US" sz="1000" dirty="0"/>
          </a:p>
        </p:txBody>
      </p:sp>
      <p:sp>
        <p:nvSpPr>
          <p:cNvPr id="15" name="Shape 7">
            <a:extLst>
              <a:ext uri="{FF2B5EF4-FFF2-40B4-BE49-F238E27FC236}">
                <a16:creationId xmlns:a16="http://schemas.microsoft.com/office/drawing/2014/main" id="{FA123D58-60AF-4637-2F61-91A82681E2BB}"/>
              </a:ext>
            </a:extLst>
          </p:cNvPr>
          <p:cNvSpPr/>
          <p:nvPr/>
        </p:nvSpPr>
        <p:spPr>
          <a:xfrm>
            <a:off x="853429" y="1425342"/>
            <a:ext cx="5150815" cy="3796363"/>
          </a:xfrm>
          <a:prstGeom prst="roundRect">
            <a:avLst>
              <a:gd name="adj" fmla="val 1176"/>
            </a:avLst>
          </a:prstGeom>
          <a:blipFill dpi="0" rotWithShape="1">
            <a:blip r:embed="rId4">
              <a:extLst>
                <a:ext uri="{28A0092B-C50C-407E-A947-70E740481C1C}">
                  <a14:useLocalDpi xmlns:a14="http://schemas.microsoft.com/office/drawing/2010/main" val="0"/>
                </a:ext>
              </a:extLst>
            </a:blip>
            <a:srcRect/>
            <a:stretch>
              <a:fillRect/>
            </a:stretch>
          </a:blipFill>
          <a:ln w="15875">
            <a:solidFill>
              <a:srgbClr val="1E3A5F"/>
            </a:solidFill>
            <a:prstDash val="dash"/>
          </a:ln>
        </p:spPr>
      </p:sp>
    </p:spTree>
    <p:extLst>
      <p:ext uri="{BB962C8B-B14F-4D97-AF65-F5344CB8AC3E}">
        <p14:creationId xmlns:p14="http://schemas.microsoft.com/office/powerpoint/2010/main" val="3778008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CONCLUSION &amp; FUTURE WORK</a:t>
            </a:r>
            <a:endParaRPr lang="en-US" sz="3000" dirty="0"/>
          </a:p>
        </p:txBody>
      </p:sp>
      <p:sp>
        <p:nvSpPr>
          <p:cNvPr id="4" name="Text 2"/>
          <p:cNvSpPr/>
          <p:nvPr/>
        </p:nvSpPr>
        <p:spPr>
          <a:xfrm>
            <a:off x="548640" y="1417320"/>
            <a:ext cx="5486400"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CONCLUSION</a:t>
            </a:r>
            <a:endParaRPr lang="en-US" sz="1300" dirty="0"/>
          </a:p>
        </p:txBody>
      </p:sp>
      <p:sp>
        <p:nvSpPr>
          <p:cNvPr id="5" name="Text 3"/>
          <p:cNvSpPr/>
          <p:nvPr/>
        </p:nvSpPr>
        <p:spPr>
          <a:xfrm>
            <a:off x="548640" y="1783080"/>
            <a:ext cx="11094415" cy="1737360"/>
          </a:xfrm>
          <a:prstGeom prst="rect">
            <a:avLst/>
          </a:prstGeom>
          <a:noFill/>
          <a:ln/>
        </p:spPr>
        <p:txBody>
          <a:bodyPr wrap="square" lIns="0" tIns="0" rIns="0" bIns="0" rtlCol="0" anchor="t"/>
          <a:lstStyle/>
          <a:p>
            <a:pPr algn="just">
              <a:lnSpc>
                <a:spcPct val="122000"/>
              </a:lnSpc>
            </a:pPr>
            <a:r>
              <a:rPr lang="en-US" sz="1400" dirty="0">
                <a:solidFill>
                  <a:srgbClr val="25313D"/>
                </a:solidFill>
                <a:latin typeface="Times New Roman" pitchFamily="34" charset="0"/>
                <a:ea typeface="Times New Roman" pitchFamily="34" charset="-122"/>
                <a:cs typeface="Times New Roman" pitchFamily="34" charset="-120"/>
              </a:rPr>
              <a:t>FINDLY is proposed as our Semester V Capstone Project - I to replace the informal, untracked way lost and found items are currently handled on campus with a single, centralised, role-based web platform. The application restricts Found-item logging and recipient-detail recording so that non-Staff/non-Admin users cannot access these functions at all - only Staff and Admin accounts are permitted to log a found item and record verified recipient details at the point of handover. This is expected to make the process faster, more organised, and more accountable than the notice-board-and-WhatsApp approach we currently rely on, while giving campus administration clear visibility into what is happening at any point in time.</a:t>
            </a:r>
            <a:endParaRPr lang="en-US" sz="1400" dirty="0"/>
          </a:p>
        </p:txBody>
      </p:sp>
      <p:sp>
        <p:nvSpPr>
          <p:cNvPr id="6" name="Text 4"/>
          <p:cNvSpPr/>
          <p:nvPr/>
        </p:nvSpPr>
        <p:spPr>
          <a:xfrm>
            <a:off x="548640" y="3657600"/>
            <a:ext cx="5486400" cy="274320"/>
          </a:xfrm>
          <a:prstGeom prst="rect">
            <a:avLst/>
          </a:prstGeom>
          <a:noFill/>
          <a:ln/>
        </p:spPr>
        <p:txBody>
          <a:bodyPr wrap="square" lIns="0" tIns="0" rIns="0" bIns="0" rtlCol="0" anchor="ctr"/>
          <a:lstStyle/>
          <a:p>
            <a:pPr marL="0" indent="0">
              <a:buNone/>
            </a:pPr>
            <a:r>
              <a:rPr lang="en-US" sz="1300" b="1" dirty="0">
                <a:solidFill>
                  <a:srgbClr val="1E3A5F"/>
                </a:solidFill>
                <a:latin typeface="Times New Roman" pitchFamily="34" charset="0"/>
                <a:ea typeface="Times New Roman" pitchFamily="34" charset="-122"/>
                <a:cs typeface="Times New Roman" pitchFamily="34" charset="-120"/>
              </a:rPr>
              <a:t>FUTURE WORK</a:t>
            </a:r>
            <a:endParaRPr lang="en-US" sz="1300" dirty="0"/>
          </a:p>
        </p:txBody>
      </p:sp>
      <p:sp>
        <p:nvSpPr>
          <p:cNvPr id="7" name="Text 5"/>
          <p:cNvSpPr/>
          <p:nvPr/>
        </p:nvSpPr>
        <p:spPr>
          <a:xfrm>
            <a:off x="548640" y="4023360"/>
            <a:ext cx="11094415" cy="2011680"/>
          </a:xfrm>
          <a:prstGeom prst="rect">
            <a:avLst/>
          </a:prstGeom>
          <a:noFill/>
          <a:ln/>
        </p:spPr>
        <p:txBody>
          <a:bodyPr wrap="square" lIns="0" tIns="0" rIns="0" bIns="0" rtlCol="0" anchor="t"/>
          <a:lstStyle/>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Email / SMS notifications alongside in-app alerts</a:t>
            </a:r>
            <a:endParaRPr lang="en-US" sz="1350" dirty="0"/>
          </a:p>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Automated match-suggestion between Lost and Found postings</a:t>
            </a:r>
            <a:endParaRPr lang="en-US" sz="1350" dirty="0"/>
          </a:p>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QR-code based item tags for faster in-person verification</a:t>
            </a:r>
            <a:endParaRPr lang="en-US" sz="1350" dirty="0"/>
          </a:p>
          <a:p>
            <a:pPr marL="228600" indent="-228600" algn="just">
              <a:lnSpc>
                <a:spcPct val="105000"/>
              </a:lnSpc>
              <a:spcAft>
                <a:spcPts val="1000"/>
              </a:spcAft>
              <a:buSzPct val="100000"/>
              <a:buChar char="●"/>
            </a:pPr>
            <a:r>
              <a:rPr lang="en-US" sz="1350" dirty="0">
                <a:solidFill>
                  <a:srgbClr val="25313D"/>
                </a:solidFill>
                <a:latin typeface="Times New Roman" pitchFamily="34" charset="0"/>
                <a:ea typeface="Times New Roman" pitchFamily="34" charset="-122"/>
                <a:cs typeface="Times New Roman" pitchFamily="34" charset="-120"/>
              </a:rPr>
              <a:t>Integration with the institution’s official student database</a:t>
            </a:r>
          </a:p>
          <a:p>
            <a:pPr marL="228600" indent="-228600" algn="just">
              <a:lnSpc>
                <a:spcPct val="105000"/>
              </a:lnSpc>
              <a:spcAft>
                <a:spcPts val="1000"/>
              </a:spcAft>
              <a:buSzPct val="100000"/>
              <a:buFontTx/>
              <a:buChar char="●"/>
            </a:pPr>
            <a:r>
              <a:rPr lang="en-US" sz="1350" dirty="0">
                <a:solidFill>
                  <a:srgbClr val="25313D"/>
                </a:solidFill>
                <a:latin typeface="Times New Roman" pitchFamily="34" charset="0"/>
                <a:ea typeface="Times New Roman" pitchFamily="34" charset="-122"/>
                <a:cs typeface="Times New Roman" pitchFamily="34" charset="-120"/>
              </a:rPr>
              <a:t>Timestamp-based claim screening - flag a claim if the claimant’s Lost report was filed only after the matching Found item was already logged, giving Staff/Admin an extra signal alongside in-person verification</a:t>
            </a:r>
            <a:endParaRPr lang="en-US" sz="1350" dirty="0"/>
          </a:p>
        </p:txBody>
      </p:sp>
      <p:sp>
        <p:nvSpPr>
          <p:cNvPr id="8" name="Text 6"/>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9" name="Text 7"/>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Conclusion &amp; Future Work</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75488"/>
            <a:ext cx="146304" cy="146304"/>
          </a:xfrm>
          <a:prstGeom prst="ellipse">
            <a:avLst/>
          </a:prstGeom>
          <a:solidFill>
            <a:srgbClr val="E8A62E"/>
          </a:solidFill>
          <a:ln/>
        </p:spPr>
      </p:sp>
      <p:sp>
        <p:nvSpPr>
          <p:cNvPr id="3" name="Text 1"/>
          <p:cNvSpPr/>
          <p:nvPr/>
        </p:nvSpPr>
        <p:spPr>
          <a:xfrm>
            <a:off x="841248" y="347472"/>
            <a:ext cx="10801807" cy="502920"/>
          </a:xfrm>
          <a:prstGeom prst="rect">
            <a:avLst/>
          </a:prstGeom>
          <a:noFill/>
          <a:ln/>
        </p:spPr>
        <p:txBody>
          <a:bodyPr wrap="square" lIns="0" tIns="0" rIns="0" bIns="0" rtlCol="0" anchor="ctr"/>
          <a:lstStyle/>
          <a:p>
            <a:pPr marL="0" indent="0" algn="l">
              <a:buNone/>
            </a:pPr>
            <a:r>
              <a:rPr lang="en-US" sz="3000" b="1" dirty="0">
                <a:solidFill>
                  <a:srgbClr val="1E3A5F"/>
                </a:solidFill>
                <a:latin typeface="Times New Roman" pitchFamily="34" charset="0"/>
                <a:ea typeface="Times New Roman" pitchFamily="34" charset="-122"/>
                <a:cs typeface="Times New Roman" pitchFamily="34" charset="-120"/>
              </a:rPr>
              <a:t>REFERENCES</a:t>
            </a:r>
            <a:endParaRPr lang="en-US" sz="3000" dirty="0"/>
          </a:p>
        </p:txBody>
      </p:sp>
      <p:sp>
        <p:nvSpPr>
          <p:cNvPr id="4" name="Text 2"/>
          <p:cNvSpPr/>
          <p:nvPr/>
        </p:nvSpPr>
        <p:spPr>
          <a:xfrm>
            <a:off x="548640" y="1463040"/>
            <a:ext cx="5364328" cy="4846320"/>
          </a:xfrm>
          <a:prstGeom prst="rect">
            <a:avLst/>
          </a:prstGeom>
          <a:noFill/>
          <a:ln/>
        </p:spPr>
        <p:txBody>
          <a:bodyPr wrap="square" lIns="0" tIns="0" rIns="0" bIns="0" rtlCol="0" anchor="t"/>
          <a:lstStyle/>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[1]  S. Sinha et al., "A Novel Approach to Enhance Campus Lost and Found Services through Integration of QR Code with Personalized Item Registration," Proc. TQCEBT, 2024.</a:t>
            </a:r>
            <a:endParaRPr lang="en-US" sz="1100" dirty="0"/>
          </a:p>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[2]  "UniFind: Lost and Found Objects Management System for Campus using AI &amp; Cloud Services," ResearchGate preprint, 2025.</a:t>
            </a:r>
            <a:endParaRPr lang="en-US" sz="1100" dirty="0"/>
          </a:p>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[3]  "An Effective Lost and Found System in University Campus," Universiti Kebangsaan Malaysia, Vol. 8, Issue 32, 2023.</a:t>
            </a:r>
            <a:endParaRPr lang="en-US" sz="1100" dirty="0"/>
          </a:p>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[4]  "Automated Lost and Found System with Peer-to-Peer Matching," JETIR.</a:t>
            </a:r>
            <a:endParaRPr lang="en-US" sz="1100" dirty="0"/>
          </a:p>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[5]  "Lost and Found Management System," Int. J. of Research in Engineering and Science (IJRES), Vol. 14, Issue 1, 2026.</a:t>
            </a:r>
            <a:endParaRPr lang="en-US" sz="1100" dirty="0"/>
          </a:p>
        </p:txBody>
      </p:sp>
      <p:sp>
        <p:nvSpPr>
          <p:cNvPr id="5" name="Text 3"/>
          <p:cNvSpPr/>
          <p:nvPr/>
        </p:nvSpPr>
        <p:spPr>
          <a:xfrm>
            <a:off x="6278728" y="1463040"/>
            <a:ext cx="5364328" cy="4846320"/>
          </a:xfrm>
          <a:prstGeom prst="rect">
            <a:avLst/>
          </a:prstGeom>
          <a:noFill/>
          <a:ln/>
        </p:spPr>
        <p:txBody>
          <a:bodyPr wrap="square" lIns="0" tIns="0" rIns="0" bIns="0" rtlCol="0" anchor="t"/>
          <a:lstStyle/>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[6]  "Lost and Found Website for College Campus (FoundLost)," IJFANS Int. J. of Food and Nutritional Sciences, Vol. 13, Issue 04, 2024.</a:t>
            </a:r>
            <a:endParaRPr lang="en-US" sz="1100" dirty="0"/>
          </a:p>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[7]  "Lost and Found Management System" (eye-tracking usability study), ResearchGate, 2026.</a:t>
            </a:r>
            <a:endParaRPr lang="en-US" sz="1100" dirty="0"/>
          </a:p>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[8]  "A Comparative Study on Lost and Found Management Systems in Academic Institutions," IEEE Xplore, Document 10904362.</a:t>
            </a:r>
            <a:endParaRPr lang="en-US" sz="1100" dirty="0"/>
          </a:p>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[9]  R. Vasavi, "Lost and Found System for VNR VJIET," IJERT, Vol. 11, Issue 06, 2022.</a:t>
            </a:r>
            <a:endParaRPr lang="en-US" sz="1100" dirty="0"/>
          </a:p>
          <a:p>
            <a:pPr marL="0" indent="0" algn="just">
              <a:lnSpc>
                <a:spcPct val="108000"/>
              </a:lnSpc>
              <a:spcAft>
                <a:spcPts val="1200"/>
              </a:spcAft>
              <a:buNone/>
            </a:pPr>
            <a:r>
              <a:rPr lang="en-US" sz="1100" dirty="0">
                <a:solidFill>
                  <a:srgbClr val="25313D"/>
                </a:solidFill>
                <a:latin typeface="Times New Roman" pitchFamily="34" charset="0"/>
                <a:ea typeface="Times New Roman" pitchFamily="34" charset="-122"/>
                <a:cs typeface="Times New Roman" pitchFamily="34" charset="-120"/>
              </a:rPr>
              <a:t>[10]  P. Choudhary et al., "Find Mine: Find the Lost Items via Mobile App," IEEE, 2021.</a:t>
            </a:r>
            <a:endParaRPr lang="en-US" sz="1100" dirty="0"/>
          </a:p>
        </p:txBody>
      </p:sp>
      <p:sp>
        <p:nvSpPr>
          <p:cNvPr id="6" name="Text 4"/>
          <p:cNvSpPr/>
          <p:nvPr/>
        </p:nvSpPr>
        <p:spPr>
          <a:xfrm>
            <a:off x="548640" y="6492240"/>
            <a:ext cx="6400800" cy="274320"/>
          </a:xfrm>
          <a:prstGeom prst="rect">
            <a:avLst/>
          </a:prstGeom>
          <a:noFill/>
          <a:ln/>
        </p:spPr>
        <p:txBody>
          <a:bodyPr wrap="square" lIns="0" tIns="0" rIns="0" bIns="0" rtlCol="0" anchor="ctr"/>
          <a:lstStyle/>
          <a:p>
            <a:pPr marL="0" indent="0" algn="l">
              <a:buNone/>
            </a:pPr>
            <a:r>
              <a:rPr lang="en-US" sz="1000" dirty="0">
                <a:solidFill>
                  <a:srgbClr val="5B6B79"/>
                </a:solidFill>
                <a:latin typeface="Times New Roman" pitchFamily="34" charset="0"/>
                <a:ea typeface="Times New Roman" pitchFamily="34" charset="-122"/>
                <a:cs typeface="Times New Roman" pitchFamily="34" charset="-120"/>
              </a:rPr>
              <a:t>FINDLY - Campus Lost &amp; Found System</a:t>
            </a:r>
            <a:endParaRPr lang="en-US" sz="1000" dirty="0"/>
          </a:p>
        </p:txBody>
      </p:sp>
      <p:sp>
        <p:nvSpPr>
          <p:cNvPr id="7" name="Text 5"/>
          <p:cNvSpPr/>
          <p:nvPr/>
        </p:nvSpPr>
        <p:spPr>
          <a:xfrm>
            <a:off x="7162495" y="6492240"/>
            <a:ext cx="4023360" cy="274320"/>
          </a:xfrm>
          <a:prstGeom prst="rect">
            <a:avLst/>
          </a:prstGeom>
          <a:noFill/>
          <a:ln/>
        </p:spPr>
        <p:txBody>
          <a:bodyPr wrap="square" lIns="0" tIns="0" rIns="0" bIns="0" rtlCol="0" anchor="ctr"/>
          <a:lstStyle/>
          <a:p>
            <a:pPr marL="0" indent="0" algn="r">
              <a:buNone/>
            </a:pPr>
            <a:r>
              <a:rPr lang="en-US" sz="1000" dirty="0">
                <a:solidFill>
                  <a:srgbClr val="5B6B79"/>
                </a:solidFill>
                <a:latin typeface="Times New Roman" pitchFamily="34" charset="0"/>
                <a:ea typeface="Times New Roman" pitchFamily="34" charset="-122"/>
                <a:cs typeface="Times New Roman" pitchFamily="34" charset="-120"/>
              </a:rPr>
              <a:t>References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13293F"/>
        </a:solidFill>
        <a:effectLst/>
      </p:bgPr>
    </p:bg>
    <p:spTree>
      <p:nvGrpSpPr>
        <p:cNvPr id="1" name=""/>
        <p:cNvGrpSpPr/>
        <p:nvPr/>
      </p:nvGrpSpPr>
      <p:grpSpPr>
        <a:xfrm>
          <a:off x="0" y="0"/>
          <a:ext cx="0" cy="0"/>
          <a:chOff x="0" y="0"/>
          <a:chExt cx="0" cy="0"/>
        </a:xfrm>
      </p:grpSpPr>
      <p:sp>
        <p:nvSpPr>
          <p:cNvPr id="2" name="Shape 0"/>
          <p:cNvSpPr/>
          <p:nvPr/>
        </p:nvSpPr>
        <p:spPr>
          <a:xfrm>
            <a:off x="9814255" y="-1280160"/>
            <a:ext cx="3657600" cy="3657600"/>
          </a:xfrm>
          <a:prstGeom prst="ellipse">
            <a:avLst/>
          </a:prstGeom>
          <a:solidFill>
            <a:srgbClr val="1E3A5F"/>
          </a:solidFill>
          <a:ln/>
        </p:spPr>
      </p:sp>
      <p:sp>
        <p:nvSpPr>
          <p:cNvPr id="3" name="Shape 1"/>
          <p:cNvSpPr/>
          <p:nvPr/>
        </p:nvSpPr>
        <p:spPr>
          <a:xfrm>
            <a:off x="-1463040" y="4846320"/>
            <a:ext cx="2926080" cy="2926080"/>
          </a:xfrm>
          <a:prstGeom prst="ellipse">
            <a:avLst/>
          </a:prstGeom>
          <a:solidFill>
            <a:srgbClr val="1E3A5F"/>
          </a:solidFill>
          <a:ln/>
        </p:spPr>
      </p:sp>
      <p:sp>
        <p:nvSpPr>
          <p:cNvPr id="4" name="Text 2"/>
          <p:cNvSpPr/>
          <p:nvPr/>
        </p:nvSpPr>
        <p:spPr>
          <a:xfrm>
            <a:off x="548640" y="2606040"/>
            <a:ext cx="11094415"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Times New Roman" pitchFamily="34" charset="0"/>
                <a:ea typeface="Times New Roman" pitchFamily="34" charset="-122"/>
                <a:cs typeface="Times New Roman" pitchFamily="34" charset="-120"/>
              </a:rPr>
              <a:t>THANK YOU</a:t>
            </a:r>
            <a:endParaRPr lang="en-US" sz="4400" dirty="0"/>
          </a:p>
        </p:txBody>
      </p:sp>
      <p:sp>
        <p:nvSpPr>
          <p:cNvPr id="5" name="Text 3"/>
          <p:cNvSpPr/>
          <p:nvPr/>
        </p:nvSpPr>
        <p:spPr>
          <a:xfrm>
            <a:off x="548640" y="3474720"/>
            <a:ext cx="11094415" cy="457200"/>
          </a:xfrm>
          <a:prstGeom prst="rect">
            <a:avLst/>
          </a:prstGeom>
          <a:noFill/>
          <a:ln/>
        </p:spPr>
        <p:txBody>
          <a:bodyPr wrap="square" lIns="0" tIns="0" rIns="0" bIns="0" rtlCol="0" anchor="ctr"/>
          <a:lstStyle/>
          <a:p>
            <a:pPr marL="0" indent="0" algn="ctr">
              <a:buNone/>
            </a:pPr>
            <a:r>
              <a:rPr lang="en-US" sz="1800" i="1" dirty="0">
                <a:solidFill>
                  <a:srgbClr val="E8A62E"/>
                </a:solidFill>
                <a:latin typeface="Times New Roman" pitchFamily="34" charset="0"/>
                <a:ea typeface="Times New Roman" pitchFamily="34" charset="-122"/>
                <a:cs typeface="Times New Roman" pitchFamily="34" charset="-120"/>
              </a:rPr>
              <a:t>Questions &amp; Suggestions Welcome</a:t>
            </a:r>
            <a:endParaRPr lang="en-US" sz="1800" dirty="0"/>
          </a:p>
        </p:txBody>
      </p:sp>
      <p:sp>
        <p:nvSpPr>
          <p:cNvPr id="6" name="Text 4"/>
          <p:cNvSpPr/>
          <p:nvPr/>
        </p:nvSpPr>
        <p:spPr>
          <a:xfrm>
            <a:off x="548640" y="4114800"/>
            <a:ext cx="11094415" cy="365760"/>
          </a:xfrm>
          <a:prstGeom prst="rect">
            <a:avLst/>
          </a:prstGeom>
          <a:noFill/>
          <a:ln/>
        </p:spPr>
        <p:txBody>
          <a:bodyPr wrap="square" lIns="0" tIns="0" rIns="0" bIns="0" rtlCol="0" anchor="ctr"/>
          <a:lstStyle/>
          <a:p>
            <a:pPr marL="0" indent="0" algn="ctr">
              <a:buNone/>
            </a:pPr>
            <a:r>
              <a:rPr lang="en-US" sz="1200" dirty="0">
                <a:solidFill>
                  <a:srgbClr val="A9B7C6"/>
                </a:solidFill>
                <a:latin typeface="Times New Roman" pitchFamily="34" charset="0"/>
                <a:ea typeface="Times New Roman" pitchFamily="34" charset="-122"/>
                <a:cs typeface="Times New Roman" pitchFamily="34" charset="-120"/>
              </a:rPr>
              <a:t>FINDLY - Campus Lost &amp; Found System  |  Team [CP1_053]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TotalTime>
  <Words>2177</Words>
  <Application>Microsoft Office PowerPoint</Application>
  <PresentationFormat>Widescreen</PresentationFormat>
  <Paragraphs>258</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VRAJ SONI</cp:lastModifiedBy>
  <cp:revision>6</cp:revision>
  <dcterms:created xsi:type="dcterms:W3CDTF">2026-08-12T23:57:23Z</dcterms:created>
  <dcterms:modified xsi:type="dcterms:W3CDTF">2026-08-17T01:23:42Z</dcterms:modified>
</cp:coreProperties>
</file>